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viên B – Pipeline mô hình Scikit-Learn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2834640"/>
            <a:ext cx="1280160" cy="230429"/>
          </a:xfrm>
          <a:prstGeom prst="parallelogram">
            <a:avLst/>
          </a:prstGeom>
          <a:solidFill>
            <a:srgbClr val="4A7EBB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3065069"/>
            <a:ext cx="1049731" cy="1141171"/>
          </a:xfrm>
          <a:prstGeom prst="rect">
            <a:avLst/>
          </a:prstGeom>
          <a:solidFill>
            <a:srgbClr val="4A7EBB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5491" y="3065069"/>
            <a:ext cx="230429" cy="1141171"/>
          </a:xfrm>
          <a:prstGeom prst="rect">
            <a:avLst/>
          </a:prstGeom>
          <a:solidFill>
            <a:srgbClr val="255E91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3065069"/>
            <a:ext cx="1049731" cy="1141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x_train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y_train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4343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1460×225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log1p(SalePrice)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3566160"/>
            <a:ext cx="457200" cy="0"/>
          </a:xfrm>
          <a:prstGeom prst="line">
            <a:avLst/>
          </a:prstGeom>
          <a:noFill/>
          <a:ln w="2222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31720" y="2194560"/>
            <a:ext cx="1463040" cy="2743200"/>
          </a:xfrm>
          <a:prstGeom prst="roundRect">
            <a:avLst>
              <a:gd name="adj" fmla="val 18750"/>
            </a:avLst>
          </a:prstGeom>
          <a:ln w="15875">
            <a:solidFill>
              <a:srgbClr val="5B9BD5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2331720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80/20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14600" y="2560320"/>
            <a:ext cx="1097280" cy="148133"/>
          </a:xfrm>
          <a:prstGeom prst="parallelogram">
            <a:avLst/>
          </a:prstGeom>
          <a:solidFill>
            <a:srgbClr val="C5E0B4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2708453"/>
            <a:ext cx="949147" cy="674827"/>
          </a:xfrm>
          <a:prstGeom prst="rect">
            <a:avLst/>
          </a:prstGeom>
          <a:solidFill>
            <a:srgbClr val="C5E0B4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63747" y="2708453"/>
            <a:ext cx="148133" cy="674827"/>
          </a:xfrm>
          <a:prstGeom prst="rect">
            <a:avLst/>
          </a:prstGeom>
          <a:solidFill>
            <a:srgbClr val="8FB07A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14600" y="2708453"/>
            <a:ext cx="949147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14600" y="3611880"/>
            <a:ext cx="1097280" cy="148133"/>
          </a:xfrm>
          <a:prstGeom prst="parallelogram">
            <a:avLst/>
          </a:prstGeom>
          <a:solidFill>
            <a:srgbClr val="FFE699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3760013"/>
            <a:ext cx="949147" cy="674827"/>
          </a:xfrm>
          <a:prstGeom prst="rect">
            <a:avLst/>
          </a:prstGeom>
          <a:solidFill>
            <a:srgbClr val="FFE699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63747" y="3760013"/>
            <a:ext cx="148133" cy="674827"/>
          </a:xfrm>
          <a:prstGeom prst="rect">
            <a:avLst/>
          </a:prstGeom>
          <a:solidFill>
            <a:srgbClr val="C9AE5A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14600" y="3760013"/>
            <a:ext cx="949147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31920" y="3566160"/>
            <a:ext cx="457200" cy="0"/>
          </a:xfrm>
          <a:prstGeom prst="line">
            <a:avLst/>
          </a:prstGeom>
          <a:noFill/>
          <a:ln w="2222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434840" y="1737360"/>
            <a:ext cx="2194560" cy="3657600"/>
          </a:xfrm>
          <a:prstGeom prst="roundRect">
            <a:avLst>
              <a:gd name="adj" fmla="val 12500"/>
            </a:avLst>
          </a:prstGeom>
          <a:ln w="15875">
            <a:solidFill>
              <a:srgbClr val="5B9BD5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443484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Baseline (7 mô hình)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17720" y="1965960"/>
            <a:ext cx="1828800" cy="115214"/>
          </a:xfrm>
          <a:prstGeom prst="parallelogram">
            <a:avLst/>
          </a:prstGeom>
          <a:solidFill>
            <a:srgbClr val="9DC3E6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2081174"/>
            <a:ext cx="1713586" cy="524866"/>
          </a:xfrm>
          <a:prstGeom prst="rect">
            <a:avLst/>
          </a:prstGeom>
          <a:solidFill>
            <a:srgbClr val="9DC3E6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1306" y="2081174"/>
            <a:ext cx="115214" cy="524866"/>
          </a:xfrm>
          <a:prstGeom prst="rect">
            <a:avLst/>
          </a:prstGeom>
          <a:solidFill>
            <a:srgbClr val="6A93C0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17720" y="2081174"/>
            <a:ext cx="1713586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/ Ridge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2788920"/>
            <a:ext cx="1828800" cy="115214"/>
          </a:xfrm>
          <a:prstGeom prst="parallelogram">
            <a:avLst/>
          </a:prstGeom>
          <a:solidFill>
            <a:srgbClr val="9DC3E6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2904134"/>
            <a:ext cx="1713586" cy="524866"/>
          </a:xfrm>
          <a:prstGeom prst="rect">
            <a:avLst/>
          </a:prstGeom>
          <a:solidFill>
            <a:srgbClr val="9DC3E6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31306" y="2904134"/>
            <a:ext cx="115214" cy="524866"/>
          </a:xfrm>
          <a:prstGeom prst="rect">
            <a:avLst/>
          </a:prstGeom>
          <a:solidFill>
            <a:srgbClr val="6A93C0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17720" y="2904134"/>
            <a:ext cx="1713586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/ ElasticNet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3611880"/>
            <a:ext cx="1828800" cy="115214"/>
          </a:xfrm>
          <a:prstGeom prst="parallelogram">
            <a:avLst/>
          </a:prstGeom>
          <a:solidFill>
            <a:srgbClr val="C5E0B4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3727094"/>
            <a:ext cx="1713586" cy="524866"/>
          </a:xfrm>
          <a:prstGeom prst="rect">
            <a:avLst/>
          </a:prstGeom>
          <a:solidFill>
            <a:srgbClr val="C5E0B4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31306" y="3727094"/>
            <a:ext cx="115214" cy="524866"/>
          </a:xfrm>
          <a:prstGeom prst="rect">
            <a:avLst/>
          </a:prstGeom>
          <a:solidFill>
            <a:srgbClr val="8FB07A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617720" y="3727094"/>
            <a:ext cx="1713586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17720" y="4434840"/>
            <a:ext cx="1828800" cy="115214"/>
          </a:xfrm>
          <a:prstGeom prst="parallelogram">
            <a:avLst/>
          </a:prstGeom>
          <a:solidFill>
            <a:srgbClr val="C5E0B4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4550054"/>
            <a:ext cx="1713586" cy="524866"/>
          </a:xfrm>
          <a:prstGeom prst="rect">
            <a:avLst/>
          </a:prstGeom>
          <a:solidFill>
            <a:srgbClr val="C5E0B4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31306" y="4550054"/>
            <a:ext cx="115214" cy="524866"/>
          </a:xfrm>
          <a:prstGeom prst="rect">
            <a:avLst/>
          </a:prstGeom>
          <a:solidFill>
            <a:srgbClr val="8FB07A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617720" y="4550054"/>
            <a:ext cx="1713586" cy="524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GBR / HistGB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66560" y="3566160"/>
            <a:ext cx="457200" cy="0"/>
          </a:xfrm>
          <a:prstGeom prst="line">
            <a:avLst/>
          </a:prstGeom>
          <a:noFill/>
          <a:ln w="2222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269480" y="2194560"/>
            <a:ext cx="1920240" cy="2743200"/>
          </a:xfrm>
          <a:prstGeom prst="roundRect">
            <a:avLst>
              <a:gd name="adj" fmla="val 14286"/>
            </a:avLst>
          </a:prstGeom>
          <a:ln w="15875">
            <a:solidFill>
              <a:srgbClr val="5B9BD5"/>
            </a:solidFill>
            <a:prstDash val="dash"/>
          </a:ln>
        </p:spPr>
      </p:sp>
      <p:sp>
        <p:nvSpPr>
          <p:cNvPr id="40" name="Text 38"/>
          <p:cNvSpPr txBox="1"/>
          <p:nvPr/>
        </p:nvSpPr>
        <p:spPr>
          <a:xfrm>
            <a:off x="726948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Tuning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452360" y="2560320"/>
            <a:ext cx="1554480" cy="148133"/>
          </a:xfrm>
          <a:prstGeom prst="parallelogram">
            <a:avLst/>
          </a:prstGeom>
          <a:solidFill>
            <a:srgbClr val="F8CBAD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52360" y="2708453"/>
            <a:ext cx="1406347" cy="674827"/>
          </a:xfrm>
          <a:prstGeom prst="rect">
            <a:avLst/>
          </a:prstGeom>
          <a:solidFill>
            <a:srgbClr val="F8CBAD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58707" y="2708453"/>
            <a:ext cx="148133" cy="674827"/>
          </a:xfrm>
          <a:prstGeom prst="rect">
            <a:avLst/>
          </a:prstGeom>
          <a:solidFill>
            <a:srgbClr val="C5997F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452360" y="2708453"/>
            <a:ext cx="1406347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(tuyến tính)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52360" y="3611880"/>
            <a:ext cx="1554480" cy="148133"/>
          </a:xfrm>
          <a:prstGeom prst="parallelogram">
            <a:avLst/>
          </a:prstGeom>
          <a:solidFill>
            <a:srgbClr val="F8CBAD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52360" y="3760013"/>
            <a:ext cx="1406347" cy="674827"/>
          </a:xfrm>
          <a:prstGeom prst="rect">
            <a:avLst/>
          </a:prstGeom>
          <a:solidFill>
            <a:srgbClr val="F8CBAD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58707" y="3760013"/>
            <a:ext cx="148133" cy="674827"/>
          </a:xfrm>
          <a:prstGeom prst="rect">
            <a:avLst/>
          </a:prstGeom>
          <a:solidFill>
            <a:srgbClr val="C5997F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452360" y="3760013"/>
            <a:ext cx="1406347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RandomizedCV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(boosting)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326880" y="3566160"/>
            <a:ext cx="457200" cy="0"/>
          </a:xfrm>
          <a:prstGeom prst="line">
            <a:avLst/>
          </a:prstGeom>
          <a:noFill/>
          <a:ln w="2222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829800" y="2194560"/>
            <a:ext cx="2011680" cy="2743200"/>
          </a:xfrm>
          <a:prstGeom prst="roundRect">
            <a:avLst>
              <a:gd name="adj" fmla="val 13636"/>
            </a:avLst>
          </a:prstGeom>
          <a:ln w="15875">
            <a:solidFill>
              <a:srgbClr val="5B9BD5"/>
            </a:solidFill>
            <a:prstDash val="dash"/>
          </a:ln>
        </p:spPr>
      </p:sp>
      <p:sp>
        <p:nvSpPr>
          <p:cNvPr id="51" name="Text 49"/>
          <p:cNvSpPr txBox="1"/>
          <p:nvPr/>
        </p:nvSpPr>
        <p:spPr>
          <a:xfrm>
            <a:off x="9829800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+ CV5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0012680" y="2834640"/>
            <a:ext cx="1645920" cy="230429"/>
          </a:xfrm>
          <a:prstGeom prst="parallelogram">
            <a:avLst/>
          </a:prstGeom>
          <a:solidFill>
            <a:srgbClr val="FFE699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012680" y="3065069"/>
            <a:ext cx="1415491" cy="1049731"/>
          </a:xfrm>
          <a:prstGeom prst="rect">
            <a:avLst/>
          </a:prstGeom>
          <a:solidFill>
            <a:srgbClr val="FFE699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428171" y="3065069"/>
            <a:ext cx="230429" cy="1049731"/>
          </a:xfrm>
          <a:prstGeom prst="rect">
            <a:avLst/>
          </a:prstGeom>
          <a:solidFill>
            <a:srgbClr val="C9AE5A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0012680" y="3065069"/>
            <a:ext cx="1415491" cy="1049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mô hình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1371600" y="585216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fit toàn bộ train → expm1 → submission_sklearn.csv (1459 dòng)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Tuning, Ensemble và chọn mô hình bằng CV5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737360"/>
            <a:ext cx="3291840" cy="3840480"/>
          </a:xfrm>
          <a:prstGeom prst="roundRect">
            <a:avLst>
              <a:gd name="adj" fmla="val 8333"/>
            </a:avLst>
          </a:prstGeom>
          <a:ln w="15875">
            <a:solidFill>
              <a:srgbClr val="5B9BD5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đã tune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2834640" cy="123444"/>
          </a:xfrm>
          <a:prstGeom prst="parallelogram">
            <a:avLst/>
          </a:prstGeom>
          <a:solidFill>
            <a:srgbClr val="9DC3E6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35124"/>
            <a:ext cx="2711196" cy="562356"/>
          </a:xfrm>
          <a:prstGeom prst="rect">
            <a:avLst/>
          </a:prstGeom>
          <a:solidFill>
            <a:srgbClr val="9DC3E6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96996" y="2135124"/>
            <a:ext cx="123444" cy="562356"/>
          </a:xfrm>
          <a:prstGeom prst="rect">
            <a:avLst/>
          </a:prstGeom>
          <a:solidFill>
            <a:srgbClr val="6A93C0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135124"/>
            <a:ext cx="2711196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 α=300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880360"/>
            <a:ext cx="2834640" cy="123444"/>
          </a:xfrm>
          <a:prstGeom prst="parallelogram">
            <a:avLst/>
          </a:prstGeom>
          <a:solidFill>
            <a:srgbClr val="9DC3E6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003804"/>
            <a:ext cx="2711196" cy="562356"/>
          </a:xfrm>
          <a:prstGeom prst="rect">
            <a:avLst/>
          </a:prstGeom>
          <a:solidFill>
            <a:srgbClr val="9DC3E6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96996" y="3003804"/>
            <a:ext cx="123444" cy="562356"/>
          </a:xfrm>
          <a:prstGeom prst="rect">
            <a:avLst/>
          </a:prstGeom>
          <a:solidFill>
            <a:srgbClr val="6A93C0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003804"/>
            <a:ext cx="2711196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ElasticNet  α=0.002, l1=0.8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749040"/>
            <a:ext cx="2834640" cy="123444"/>
          </a:xfrm>
          <a:prstGeom prst="parallelogram">
            <a:avLst/>
          </a:prstGeom>
          <a:solidFill>
            <a:srgbClr val="C5E0B4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872484"/>
            <a:ext cx="2711196" cy="562356"/>
          </a:xfrm>
          <a:prstGeom prst="rect">
            <a:avLst/>
          </a:prstGeom>
          <a:solidFill>
            <a:srgbClr val="C5E0B4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96996" y="3872484"/>
            <a:ext cx="123444" cy="562356"/>
          </a:xfrm>
          <a:prstGeom prst="rect">
            <a:avLst/>
          </a:prstGeom>
          <a:solidFill>
            <a:srgbClr val="8FB07A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872484"/>
            <a:ext cx="2711196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GBR  489 cây, depth 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617720"/>
            <a:ext cx="2834640" cy="123444"/>
          </a:xfrm>
          <a:prstGeom prst="parallelogram">
            <a:avLst/>
          </a:prstGeom>
          <a:solidFill>
            <a:srgbClr val="C5E0B4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4741164"/>
            <a:ext cx="2711196" cy="562356"/>
          </a:xfrm>
          <a:prstGeom prst="rect">
            <a:avLst/>
          </a:prstGeom>
          <a:solidFill>
            <a:srgbClr val="C5E0B4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96996" y="4741164"/>
            <a:ext cx="123444" cy="562356"/>
          </a:xfrm>
          <a:prstGeom prst="rect">
            <a:avLst/>
          </a:prstGeom>
          <a:solidFill>
            <a:srgbClr val="8FB07A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741164"/>
            <a:ext cx="2711196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HistGB  595 iter, depth 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86200" y="3657600"/>
            <a:ext cx="594360" cy="0"/>
          </a:xfrm>
          <a:prstGeom prst="line">
            <a:avLst/>
          </a:prstGeom>
          <a:noFill/>
          <a:ln w="2222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26280" y="2377440"/>
            <a:ext cx="2286000" cy="2560320"/>
          </a:xfrm>
          <a:prstGeom prst="roundRect">
            <a:avLst>
              <a:gd name="adj" fmla="val 12000"/>
            </a:avLst>
          </a:prstGeom>
          <a:ln w="15875">
            <a:solidFill>
              <a:srgbClr val="5B9BD5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452628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0" y="2926080"/>
            <a:ext cx="1828800" cy="230429"/>
          </a:xfrm>
          <a:prstGeom prst="parallelogram">
            <a:avLst/>
          </a:prstGeom>
          <a:solidFill>
            <a:srgbClr val="FFE699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156509"/>
            <a:ext cx="1598371" cy="1049731"/>
          </a:xfrm>
          <a:prstGeom prst="rect">
            <a:avLst/>
          </a:prstGeom>
          <a:solidFill>
            <a:srgbClr val="FFE699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3251" y="3156509"/>
            <a:ext cx="230429" cy="1049731"/>
          </a:xfrm>
          <a:prstGeom prst="rect">
            <a:avLst/>
          </a:prstGeom>
          <a:solidFill>
            <a:srgbClr val="C9AE5A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54880" y="3156509"/>
            <a:ext cx="1598371" cy="1049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 đều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mô hình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49440" y="3657600"/>
            <a:ext cx="594360" cy="0"/>
          </a:xfrm>
          <a:prstGeom prst="line">
            <a:avLst/>
          </a:prstGeom>
          <a:noFill/>
          <a:ln w="2222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589520" y="1737360"/>
            <a:ext cx="4114800" cy="3840480"/>
          </a:xfrm>
          <a:prstGeom prst="roundRect">
            <a:avLst>
              <a:gd name="adj" fmla="val 7143"/>
            </a:avLst>
          </a:prstGeom>
          <a:ln w="15875">
            <a:solidFill>
              <a:srgbClr val="5B9BD5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7589520" y="1325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5-fold (1460 dòng)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818120" y="1920240"/>
            <a:ext cx="2834640" cy="82296"/>
          </a:xfrm>
          <a:prstGeom prst="parallelogram">
            <a:avLst/>
          </a:prstGeom>
          <a:solidFill>
            <a:srgbClr val="FFE699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18120" y="2002536"/>
            <a:ext cx="2752344" cy="374904"/>
          </a:xfrm>
          <a:prstGeom prst="rect">
            <a:avLst/>
          </a:prstGeom>
          <a:solidFill>
            <a:srgbClr val="FFE699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70464" y="2002536"/>
            <a:ext cx="82296" cy="374904"/>
          </a:xfrm>
          <a:prstGeom prst="rect">
            <a:avLst/>
          </a:prstGeom>
          <a:solidFill>
            <a:srgbClr val="C9AE5A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18120" y="2002536"/>
            <a:ext cx="27523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4 mô hình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744200" y="20116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0.1259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818120" y="2514600"/>
            <a:ext cx="2834640" cy="82296"/>
          </a:xfrm>
          <a:prstGeom prst="parallelogram">
            <a:avLst/>
          </a:prstGeom>
          <a:solidFill>
            <a:srgbClr val="FFE699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18120" y="2596896"/>
            <a:ext cx="2752344" cy="374904"/>
          </a:xfrm>
          <a:prstGeom prst="rect">
            <a:avLst/>
          </a:prstGeom>
          <a:solidFill>
            <a:srgbClr val="FFE699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70464" y="2596896"/>
            <a:ext cx="82296" cy="374904"/>
          </a:xfrm>
          <a:prstGeom prst="rect">
            <a:avLst/>
          </a:prstGeom>
          <a:solidFill>
            <a:srgbClr val="C9AE5A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818120" y="2596896"/>
            <a:ext cx="27523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0.5 ENet + 0.5 GBR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744200" y="26060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0.1267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818120" y="3108960"/>
            <a:ext cx="2834640" cy="82296"/>
          </a:xfrm>
          <a:prstGeom prst="parallelogram">
            <a:avLst/>
          </a:prstGeom>
          <a:solidFill>
            <a:srgbClr val="C5E0B4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18120" y="3191256"/>
            <a:ext cx="2752344" cy="374904"/>
          </a:xfrm>
          <a:prstGeom prst="rect">
            <a:avLst/>
          </a:prstGeom>
          <a:solidFill>
            <a:srgbClr val="C5E0B4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70464" y="3191256"/>
            <a:ext cx="82296" cy="374904"/>
          </a:xfrm>
          <a:prstGeom prst="rect">
            <a:avLst/>
          </a:prstGeom>
          <a:solidFill>
            <a:srgbClr val="8FB07A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818120" y="3191256"/>
            <a:ext cx="27523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0744200" y="3200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0.1269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818120" y="3703320"/>
            <a:ext cx="2834640" cy="82296"/>
          </a:xfrm>
          <a:prstGeom prst="parallelogram">
            <a:avLst/>
          </a:prstGeom>
          <a:solidFill>
            <a:srgbClr val="C5E0B4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18120" y="3785616"/>
            <a:ext cx="2752344" cy="374904"/>
          </a:xfrm>
          <a:prstGeom prst="rect">
            <a:avLst/>
          </a:prstGeom>
          <a:solidFill>
            <a:srgbClr val="C5E0B4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570464" y="3785616"/>
            <a:ext cx="82296" cy="374904"/>
          </a:xfrm>
          <a:prstGeom prst="rect">
            <a:avLst/>
          </a:prstGeom>
          <a:solidFill>
            <a:srgbClr val="8FB07A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818120" y="3785616"/>
            <a:ext cx="27523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HistGB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10744200" y="37947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0.1299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818120" y="4297680"/>
            <a:ext cx="2834640" cy="82296"/>
          </a:xfrm>
          <a:prstGeom prst="parallelogram">
            <a:avLst/>
          </a:prstGeom>
          <a:solidFill>
            <a:srgbClr val="9DC3E6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818120" y="4379976"/>
            <a:ext cx="2752344" cy="374904"/>
          </a:xfrm>
          <a:prstGeom prst="rect">
            <a:avLst/>
          </a:prstGeom>
          <a:solidFill>
            <a:srgbClr val="9DC3E6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570464" y="4379976"/>
            <a:ext cx="82296" cy="374904"/>
          </a:xfrm>
          <a:prstGeom prst="rect">
            <a:avLst/>
          </a:prstGeom>
          <a:solidFill>
            <a:srgbClr val="6A93C0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818120" y="4379976"/>
            <a:ext cx="27523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10744200" y="43891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0.1387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818120" y="4892040"/>
            <a:ext cx="2834640" cy="82296"/>
          </a:xfrm>
          <a:prstGeom prst="parallelogram">
            <a:avLst/>
          </a:prstGeom>
          <a:solidFill>
            <a:srgbClr val="9DC3E6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18120" y="4974336"/>
            <a:ext cx="2752344" cy="374904"/>
          </a:xfrm>
          <a:prstGeom prst="rect">
            <a:avLst/>
          </a:prstGeom>
          <a:solidFill>
            <a:srgbClr val="9DC3E6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570464" y="4974336"/>
            <a:ext cx="82296" cy="374904"/>
          </a:xfrm>
          <a:prstGeom prst="rect">
            <a:avLst/>
          </a:prstGeom>
          <a:solidFill>
            <a:srgbClr val="6A93C0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818120" y="4974336"/>
            <a:ext cx="27523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ElasticNet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10744200" y="4983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0.1412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1371600" y="594360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theo CV5 vì tập Validation chỉ có 292 dòng nên nhiễu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Validation (RMSE trên log SalePrice)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1188720"/>
          <a:ext cx="77724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463040"/>
                <a:gridCol w="1554480"/>
                <a:gridCol w="12801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hình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Giai đoạn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ElasticNet (tuned)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 (alpha=0.001)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ElasticNet (a=0.001,l1=0.5)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(alpha=10)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0.5 ENet + 0.5 GBR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ENet/Ridge/GBR/HGB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(tuned)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 (tuned)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 (tuned)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 (500)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HistGB (tuned)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HistGradientBoosting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(300)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2194560" y="6126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Tốt nhất trên Val: Lasso 0.1194 (baseline) / ElasticNet tuned 0.1193. Mô hình tuyến tính thắng boosting trên Val nhưng kém hơn trên CV5.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2026-10-06T08:12:54Z</dcterms:created>
  <dcterms:modified xsi:type="dcterms:W3CDTF">2026-10-06T08:12:54Z</dcterms:modified>
</cp:coreProperties>
</file>
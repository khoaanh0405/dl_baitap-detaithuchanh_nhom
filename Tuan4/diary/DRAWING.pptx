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0B079-9A20-42F2-915C-1F251FCE9F4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965D8-211A-4D9B-B328-9E28987D6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8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AA96-CAEE-066A-EE6C-B2FB89332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A137D-33CB-F00E-2654-7724CE6F2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C3CE8-5929-B805-E9D3-E36767CA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CC8BC-29AF-CDA9-EE7F-8A991C6A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B2A75-9E6B-DBF0-4165-CCC6D8BF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7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3573-D1D7-D420-7208-4B260259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1FA82-C2B6-6745-C0B9-57451D76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1E3D9-183D-FD27-F72D-E6294F9B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DCE83-CE46-4933-90DF-805CA83A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2BDF5-5893-470F-8A95-DD832334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8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9379F-1B3F-B6D4-7CE5-2122D221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F29BF-44FB-0A78-45EA-96E8FBFA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CC21-D5CC-E8F2-E09F-D968210C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05B33-0D8B-0B5F-D64F-CB87FA84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DFFCB-16E3-3912-FEA9-85C008DA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8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8EA6-70BF-AE06-281E-BD4AF2D7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B281F-0418-949A-53A9-C61F03EF5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C6C9D-0687-5E52-DF9B-CBC8D4FC3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91330-40F1-FC2B-A4C2-2D41CE35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20249-8A0E-5836-40FC-0BD5F978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9E257-D949-62C6-89F4-FC4A86D9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9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5C5F-732E-E094-E0B0-82B0705E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7265B-724C-8CE3-7E10-2CDB73E1B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2D16C-C43F-2C8B-1070-E03DC92D3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A5AD5-3AA6-D474-7850-2C2C35262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95EE5-9920-EC39-7D16-2B68F11C3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E66F50-93A2-8C95-E3C3-ECB9608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DB505-3C73-D610-7DA2-8F81B3AA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88C1A1-753D-0E69-19F9-71FB972A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2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0E66-3EFB-3950-D446-02ABFC44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4AF58-168B-0BC4-9E5B-E08AA148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A8F04-D721-FAF8-8BEB-3FC40D69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64BBA-5915-71D2-5436-1FA44B12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1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D53B4-D7BD-D0BF-5D1F-098B9A7C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AB271-4BB2-9A0B-0BEB-26255132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60694-C677-7498-0B4E-95593A8C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2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8FB0-5B76-81D6-342C-FE919F88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6332-3D74-7E8D-7B39-7864281CD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53A9D-4CAB-7B6D-1D99-687140C03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F7ED3-A7A3-E716-712D-BDF31D9E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4539C-A1E0-6A92-37EA-CAC08B0C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8FA10-6ECE-6042-B8EE-54AB189A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3AF3-4DFE-9DC4-C09F-0E231CB3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5EDE8-357E-BD8D-FDB4-97720C0B78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4DE2E-1975-EAA0-F074-B30224A47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22713-8E62-DB5E-A72E-D0F9C0E3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7F1CC-8A9A-8F39-7799-5A05E8997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059B3-CF8C-BC49-D325-75EAC2C1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1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FB15-CDAB-51AB-966F-4E3D1EA8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94916-9C63-5D1B-53B4-DED46C277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01FFC-E8E8-5173-294C-60204342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BB18A-2211-F29D-CA1A-958DFEC2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38484-B353-6C30-C438-7278C356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8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CE036D-0E95-0C0E-1EFC-08F88BA4B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3044E-8C95-ED54-B421-7641034C3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CBEF1-AC25-A028-16DB-3FC7606D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1EF0C-35D1-DE57-4CC1-B7D9B9CB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6373A-6DD2-FF53-BCBB-D914C7FA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71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530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C2453-7CDB-E9CC-44EA-B6000BFD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399ED-30B9-B0D6-FB7E-8B8F62805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489FC-0EC1-E8C0-ED5F-5E9A105CC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ACF67-F783-4D7B-B4F2-5E608322C4A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DA8D-C637-6719-7C05-0D1E2E387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408C9-1B56-B5B0-9EC7-29E3E62BA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EF7EA-0853-439E-AC84-B0351B899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1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D302B-3453-42FF-A7BE-845BFAE18028}"/>
              </a:ext>
            </a:extLst>
          </p:cNvPr>
          <p:cNvSpPr txBox="1"/>
          <p:nvPr/>
        </p:nvSpPr>
        <p:spPr>
          <a:xfrm>
            <a:off x="64008" y="2350008"/>
            <a:ext cx="2188464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1. RAW DATA</a:t>
            </a:r>
          </a:p>
          <a:p>
            <a:pPr algn="ctr"/>
            <a:r>
              <a:rPr lang="en-US" dirty="0"/>
              <a:t>Input:</a:t>
            </a:r>
          </a:p>
          <a:p>
            <a:pPr algn="ctr"/>
            <a:r>
              <a:rPr lang="en-US" dirty="0"/>
              <a:t>train.csv 1460 × 81</a:t>
            </a:r>
          </a:p>
          <a:p>
            <a:pPr algn="ctr"/>
            <a:r>
              <a:rPr lang="en-US" dirty="0"/>
              <a:t>test.csv 1459 × 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A04782-382A-05B5-2B65-19DAA92FB6F4}"/>
              </a:ext>
            </a:extLst>
          </p:cNvPr>
          <p:cNvSpPr txBox="1"/>
          <p:nvPr/>
        </p:nvSpPr>
        <p:spPr>
          <a:xfrm>
            <a:off x="2819400" y="1564731"/>
            <a:ext cx="2188464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2. PREPROCESSING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Fill Missing Values</a:t>
            </a:r>
          </a:p>
          <a:p>
            <a:pPr algn="ctr"/>
            <a:r>
              <a:rPr lang="en-US" dirty="0"/>
              <a:t>• </a:t>
            </a:r>
            <a:r>
              <a:rPr lang="en-US" dirty="0" err="1"/>
              <a:t>Số</a:t>
            </a:r>
            <a:r>
              <a:rPr lang="en-US" dirty="0"/>
              <a:t> → Median</a:t>
            </a:r>
          </a:p>
          <a:p>
            <a:pPr algn="ctr"/>
            <a:r>
              <a:rPr lang="en-US" dirty="0"/>
              <a:t>• </a:t>
            </a:r>
            <a:r>
              <a:rPr lang="en-US" dirty="0" err="1"/>
              <a:t>Chữ</a:t>
            </a:r>
            <a:r>
              <a:rPr lang="en-US" dirty="0"/>
              <a:t> → None/Mode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Label Encoding</a:t>
            </a:r>
          </a:p>
          <a:p>
            <a:pPr algn="ctr"/>
            <a:r>
              <a:rPr lang="en-US" dirty="0"/>
              <a:t>• </a:t>
            </a:r>
            <a:r>
              <a:rPr lang="en-US" dirty="0" err="1"/>
              <a:t>Chữ</a:t>
            </a:r>
            <a:r>
              <a:rPr lang="en-US" dirty="0"/>
              <a:t> → </a:t>
            </a:r>
            <a:r>
              <a:rPr lang="en-US" dirty="0" err="1"/>
              <a:t>số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StandardScaler</a:t>
            </a:r>
            <a:endParaRPr lang="en-US" dirty="0"/>
          </a:p>
          <a:p>
            <a:pPr algn="ctr"/>
            <a:r>
              <a:rPr lang="en-US" dirty="0"/>
              <a:t>•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13287-B776-490D-FB7D-A21179B10BF4}"/>
              </a:ext>
            </a:extLst>
          </p:cNvPr>
          <p:cNvSpPr txBox="1"/>
          <p:nvPr/>
        </p:nvSpPr>
        <p:spPr>
          <a:xfrm>
            <a:off x="5574792" y="1657510"/>
            <a:ext cx="2377440" cy="258532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dirty="0"/>
              <a:t>3. FEATURE ENGINEERING</a:t>
            </a:r>
          </a:p>
          <a:p>
            <a:pPr algn="ctr"/>
            <a:endParaRPr lang="vi-VN" dirty="0"/>
          </a:p>
          <a:p>
            <a:pPr algn="ctr"/>
            <a:r>
              <a:rPr lang="vi-VN" dirty="0"/>
              <a:t>Sinh đặc trưng mới:</a:t>
            </a:r>
          </a:p>
          <a:p>
            <a:pPr algn="ctr"/>
            <a:r>
              <a:rPr lang="vi-VN" dirty="0"/>
              <a:t>• TotalSF</a:t>
            </a:r>
          </a:p>
          <a:p>
            <a:pPr algn="ctr"/>
            <a:r>
              <a:rPr lang="vi-VN" dirty="0"/>
              <a:t>• TotalBath</a:t>
            </a:r>
          </a:p>
          <a:p>
            <a:pPr algn="ctr"/>
            <a:r>
              <a:rPr lang="vi-VN" dirty="0"/>
              <a:t>• HouseAge</a:t>
            </a:r>
          </a:p>
          <a:p>
            <a:pPr algn="ctr"/>
            <a:r>
              <a:rPr lang="vi-VN" dirty="0"/>
              <a:t>Drop cột đa cộng tuyến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D4026-FFC6-E4E3-EB17-86F54A96A8C5}"/>
              </a:ext>
            </a:extLst>
          </p:cNvPr>
          <p:cNvSpPr txBox="1"/>
          <p:nvPr/>
        </p:nvSpPr>
        <p:spPr>
          <a:xfrm>
            <a:off x="8519160" y="2073009"/>
            <a:ext cx="2459736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4. READY FOR MODELS</a:t>
            </a:r>
          </a:p>
          <a:p>
            <a:pPr algn="ctr"/>
            <a:r>
              <a:rPr lang="en-US" dirty="0"/>
              <a:t>Output:</a:t>
            </a:r>
          </a:p>
          <a:p>
            <a:pPr algn="ctr"/>
            <a:r>
              <a:rPr lang="en-US" dirty="0"/>
              <a:t>• x_train.xlsx</a:t>
            </a:r>
          </a:p>
          <a:p>
            <a:pPr algn="ctr"/>
            <a:r>
              <a:rPr lang="en-US" dirty="0"/>
              <a:t>• y_train.xlsx</a:t>
            </a:r>
          </a:p>
          <a:p>
            <a:pPr algn="ctr"/>
            <a:r>
              <a:rPr lang="en-US" dirty="0"/>
              <a:t>• x_test.xlsx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B60FD5-FE30-2B88-9A95-E3B8798D4F62}"/>
              </a:ext>
            </a:extLst>
          </p:cNvPr>
          <p:cNvCxnSpPr>
            <a:stCxn id="4" idx="3"/>
          </p:cNvCxnSpPr>
          <p:nvPr/>
        </p:nvCxnSpPr>
        <p:spPr>
          <a:xfrm flipV="1">
            <a:off x="2252472" y="2950171"/>
            <a:ext cx="56692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5ADC98-B800-9C4F-91DE-3CCB3A31063E}"/>
              </a:ext>
            </a:extLst>
          </p:cNvPr>
          <p:cNvCxnSpPr>
            <a:cxnSpLocks/>
          </p:cNvCxnSpPr>
          <p:nvPr/>
        </p:nvCxnSpPr>
        <p:spPr>
          <a:xfrm flipV="1">
            <a:off x="5007864" y="2975601"/>
            <a:ext cx="5669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B94BAD-2388-DDB5-BE91-D4C7A8C0F5E3}"/>
              </a:ext>
            </a:extLst>
          </p:cNvPr>
          <p:cNvCxnSpPr>
            <a:stCxn id="6" idx="3"/>
          </p:cNvCxnSpPr>
          <p:nvPr/>
        </p:nvCxnSpPr>
        <p:spPr>
          <a:xfrm flipV="1">
            <a:off x="7952232" y="2950171"/>
            <a:ext cx="5669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0A52412-6720-D161-81A3-B9436AA8E2C9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9947425" y="1459114"/>
            <a:ext cx="415499" cy="8122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692407B-02CA-B52D-7535-00D58A7D6BE6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9955239" y="3344125"/>
            <a:ext cx="399871" cy="8122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D00E08A-6CEF-7472-191D-99DA1BD62E63}"/>
              </a:ext>
            </a:extLst>
          </p:cNvPr>
          <p:cNvSpPr txBox="1"/>
          <p:nvPr/>
        </p:nvSpPr>
        <p:spPr>
          <a:xfrm>
            <a:off x="10561321" y="1349973"/>
            <a:ext cx="1643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To Scikit-Learn </a:t>
            </a:r>
          </a:p>
          <a:p>
            <a:r>
              <a:rPr lang="en-US"/>
              <a:t>Models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70BE62-AB97-00D5-201A-76713F6E3A2A}"/>
              </a:ext>
            </a:extLst>
          </p:cNvPr>
          <p:cNvSpPr txBox="1"/>
          <p:nvPr/>
        </p:nvSpPr>
        <p:spPr>
          <a:xfrm>
            <a:off x="10755631" y="3627042"/>
            <a:ext cx="1255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</a:t>
            </a:r>
            <a:r>
              <a:rPr lang="en-US" dirty="0" err="1"/>
              <a:t>PyTorch</a:t>
            </a:r>
            <a:r>
              <a:rPr lang="en-US" dirty="0"/>
              <a:t> MLP</a:t>
            </a:r>
          </a:p>
        </p:txBody>
      </p:sp>
    </p:spTree>
    <p:extLst>
      <p:ext uri="{BB962C8B-B14F-4D97-AF65-F5344CB8AC3E}">
        <p14:creationId xmlns:p14="http://schemas.microsoft.com/office/powerpoint/2010/main" val="263980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mô hình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2834640"/>
            <a:ext cx="1280160" cy="230429"/>
          </a:xfrm>
          <a:prstGeom prst="parallelogram">
            <a:avLst/>
          </a:prstGeom>
          <a:solidFill>
            <a:srgbClr val="4A7EBB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065069"/>
            <a:ext cx="1049731" cy="1141171"/>
          </a:xfrm>
          <a:prstGeom prst="rect">
            <a:avLst/>
          </a:prstGeom>
          <a:solidFill>
            <a:srgbClr val="4A7EBB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5491" y="3065069"/>
            <a:ext cx="230429" cy="1141171"/>
          </a:xfrm>
          <a:prstGeom prst="rect">
            <a:avLst/>
          </a:prstGeom>
          <a:solidFill>
            <a:srgbClr val="255E91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3065069"/>
            <a:ext cx="1049731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1460×225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log1p(SalePrice)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194560"/>
            <a:ext cx="1463040" cy="2743200"/>
          </a:xfrm>
          <a:prstGeom prst="roundRect">
            <a:avLst>
              <a:gd name="adj" fmla="val 18750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33172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2560320"/>
            <a:ext cx="1097280" cy="148133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2708453"/>
            <a:ext cx="949147" cy="674827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3747" y="2708453"/>
            <a:ext cx="148133" cy="674827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2708453"/>
            <a:ext cx="9491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3611880"/>
            <a:ext cx="1097280" cy="148133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760013"/>
            <a:ext cx="949147" cy="674827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3747" y="3760013"/>
            <a:ext cx="148133" cy="674827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3760013"/>
            <a:ext cx="9491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34840" y="1737360"/>
            <a:ext cx="2194560" cy="3657600"/>
          </a:xfrm>
          <a:prstGeom prst="roundRect">
            <a:avLst>
              <a:gd name="adj" fmla="val 12500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4348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Baseline (7 mô hình)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1965960"/>
            <a:ext cx="1828800" cy="11521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81174"/>
            <a:ext cx="1713586" cy="52486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1306" y="2081174"/>
            <a:ext cx="115214" cy="52486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208117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1828800" cy="11521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904134"/>
            <a:ext cx="1713586" cy="52486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1306" y="2904134"/>
            <a:ext cx="115214" cy="52486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7720" y="290413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/ ElasticNet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611880"/>
            <a:ext cx="1828800" cy="11521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727094"/>
            <a:ext cx="1713586" cy="52486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1306" y="3727094"/>
            <a:ext cx="115214" cy="52486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17720" y="372709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4434840"/>
            <a:ext cx="1828800" cy="11521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4550054"/>
            <a:ext cx="1713586" cy="52486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1306" y="4550054"/>
            <a:ext cx="115214" cy="52486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17720" y="455005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/ HistGB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69480" y="2194560"/>
            <a:ext cx="1920240" cy="2743200"/>
          </a:xfrm>
          <a:prstGeom prst="roundRect">
            <a:avLst>
              <a:gd name="adj" fmla="val 14286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72694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Tuning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52360" y="2560320"/>
            <a:ext cx="1554480" cy="148133"/>
          </a:xfrm>
          <a:prstGeom prst="parallelogram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2708453"/>
            <a:ext cx="1406347" cy="674827"/>
          </a:xfrm>
          <a:prstGeom prst="rect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58707" y="2708453"/>
            <a:ext cx="148133" cy="674827"/>
          </a:xfrm>
          <a:prstGeom prst="rect">
            <a:avLst/>
          </a:prstGeom>
          <a:solidFill>
            <a:srgbClr val="C5997F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52360" y="2708453"/>
            <a:ext cx="14063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(tuyến tính)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3611880"/>
            <a:ext cx="1554480" cy="148133"/>
          </a:xfrm>
          <a:prstGeom prst="parallelogram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2360" y="3760013"/>
            <a:ext cx="1406347" cy="674827"/>
          </a:xfrm>
          <a:prstGeom prst="rect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58707" y="3760013"/>
            <a:ext cx="148133" cy="674827"/>
          </a:xfrm>
          <a:prstGeom prst="rect">
            <a:avLst/>
          </a:prstGeom>
          <a:solidFill>
            <a:srgbClr val="C5997F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52360" y="3760013"/>
            <a:ext cx="14063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(boosting)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2688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829800" y="2194560"/>
            <a:ext cx="2011680" cy="2743200"/>
          </a:xfrm>
          <a:prstGeom prst="roundRect">
            <a:avLst>
              <a:gd name="adj" fmla="val 13636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98298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+ CV5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012680" y="2834640"/>
            <a:ext cx="1645920" cy="230429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12680" y="3065069"/>
            <a:ext cx="1415491" cy="1049731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28171" y="3065069"/>
            <a:ext cx="230429" cy="1049731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012680" y="3065069"/>
            <a:ext cx="1415491" cy="1049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mô hình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371600" y="58521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fit toàn bộ train → expm1 → submission_sklearn.csv (1459 dòng)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Tuning, Ensemble và chọn mô hình bằng CV5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291840" cy="3840480"/>
          </a:xfrm>
          <a:prstGeom prst="roundRect">
            <a:avLst>
              <a:gd name="adj" fmla="val 8333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đã tune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834640" cy="12344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5124"/>
            <a:ext cx="2711196" cy="56235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96996" y="2135124"/>
            <a:ext cx="123444" cy="56235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3512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 α=300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2834640" cy="12344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003804"/>
            <a:ext cx="2711196" cy="56235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6996" y="3003804"/>
            <a:ext cx="123444" cy="56235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0380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 α=0.002, l1=0.8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749040"/>
            <a:ext cx="2834640" cy="12344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72484"/>
            <a:ext cx="2711196" cy="56235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6996" y="3872484"/>
            <a:ext cx="123444" cy="56235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7248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 489 cây, depth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2834640" cy="12344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741164"/>
            <a:ext cx="2711196" cy="56235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6996" y="4741164"/>
            <a:ext cx="123444" cy="56235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4116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  595 iter, depth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3657600"/>
            <a:ext cx="59436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26280" y="2377440"/>
            <a:ext cx="2286000" cy="2560320"/>
          </a:xfrm>
          <a:prstGeom prst="roundRect">
            <a:avLst>
              <a:gd name="adj" fmla="val 12000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5262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1828800" cy="230429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156509"/>
            <a:ext cx="1598371" cy="1049731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3251" y="3156509"/>
            <a:ext cx="230429" cy="1049731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156509"/>
            <a:ext cx="1598371" cy="1049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đều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mô hình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657600"/>
            <a:ext cx="59436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89520" y="1737360"/>
            <a:ext cx="4114800" cy="3840480"/>
          </a:xfrm>
          <a:prstGeom prst="roundRect">
            <a:avLst>
              <a:gd name="adj" fmla="val 7143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58952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 (1460 dòng)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8120" y="1920240"/>
            <a:ext cx="2834640" cy="82296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2002536"/>
            <a:ext cx="2752344" cy="374904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0464" y="2002536"/>
            <a:ext cx="82296" cy="374904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200253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4 mô hình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74420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18120" y="2514600"/>
            <a:ext cx="2834640" cy="82296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2596896"/>
            <a:ext cx="2752344" cy="374904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70464" y="2596896"/>
            <a:ext cx="82296" cy="374904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8120" y="259689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0.5 ENet + 0.5 GBR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74420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18120" y="3108960"/>
            <a:ext cx="2834640" cy="82296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18120" y="3191256"/>
            <a:ext cx="2752344" cy="374904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70464" y="3191256"/>
            <a:ext cx="82296" cy="374904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18120" y="319125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7442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0.1269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18120" y="3703320"/>
            <a:ext cx="2834640" cy="82296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18120" y="3785616"/>
            <a:ext cx="2752344" cy="374904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70464" y="3785616"/>
            <a:ext cx="82296" cy="374904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18120" y="378561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744200" y="3794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0.1299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18120" y="4297680"/>
            <a:ext cx="2834640" cy="82296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4379976"/>
            <a:ext cx="2752344" cy="374904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70464" y="4379976"/>
            <a:ext cx="82296" cy="374904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18120" y="437997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0744200" y="4389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0.1387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18120" y="4892040"/>
            <a:ext cx="2834640" cy="82296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18120" y="4974336"/>
            <a:ext cx="2752344" cy="374904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70464" y="4974336"/>
            <a:ext cx="82296" cy="374904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18120" y="497433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744200" y="4983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0.1412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1371600" y="5943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theo CV5 vì tập Validation chỉ có 292 dòng nên nhiễu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Validation (RMSE trên log SalePrice)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2194560" y="1188720"/>
          <a:ext cx="7772400" cy="493776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Giai đoạn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ElasticNet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(alpha=0.001)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ElasticNet (a=0.001,l1=0.5)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(alpha=10)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0.5 ENet + 0.5 GBR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ENet/Ridge/GBR/HGB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(500)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HistGB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(300)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2194560" y="6126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nhất trên Val: Lasso 0.1194 (baseline) / ElasticNet tuned 0.1193. Mô hình tuyến tính thắng boosting trên Val nhưng kém hơn trên CV5.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674686"/>
            <a:ext cx="5303520" cy="5029200"/>
          </a:xfrm>
          <a:prstGeom prst="roundRect">
            <a:avLst/>
          </a:prstGeom>
          <a:solidFill>
            <a:srgbClr val="FEEBE2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674686"/>
            <a:ext cx="5303520" cy="4114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KIẾN TRÚC MẠNG HOUSEPRICEMLP (TORCH.NN.MODULE)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3598"/>
            <a:ext cx="512064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6B20"/>
                </a:solidFill>
              </a:defRPr>
            </a:pPr>
            <a:r>
              <a:rPr sz="1300" dirty="0" err="1"/>
              <a:t>Mô</a:t>
            </a:r>
            <a:r>
              <a:rPr sz="1300" dirty="0"/>
              <a:t> </a:t>
            </a:r>
            <a:r>
              <a:rPr sz="1300" dirty="0" err="1"/>
              <a:t>hình</a:t>
            </a:r>
            <a:r>
              <a:rPr sz="1300" dirty="0"/>
              <a:t> </a:t>
            </a:r>
            <a:r>
              <a:rPr sz="1300" dirty="0" err="1"/>
              <a:t>Mạng</a:t>
            </a:r>
            <a:r>
              <a:rPr sz="1300" dirty="0"/>
              <a:t> </a:t>
            </a:r>
            <a:r>
              <a:rPr sz="1300" dirty="0" err="1"/>
              <a:t>Nơ-ron</a:t>
            </a:r>
            <a:r>
              <a:rPr sz="1300" dirty="0"/>
              <a:t> Lan </a:t>
            </a:r>
            <a:r>
              <a:rPr sz="1300" dirty="0" err="1"/>
              <a:t>truyền</a:t>
            </a:r>
            <a:r>
              <a:rPr sz="1300" dirty="0"/>
              <a:t> </a:t>
            </a:r>
            <a:r>
              <a:rPr sz="1300" dirty="0" err="1"/>
              <a:t>tiến</a:t>
            </a:r>
            <a:r>
              <a:rPr sz="1300" dirty="0"/>
              <a:t> (Feedforward MLP):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• Input Dimension: 225 </a:t>
            </a:r>
            <a:r>
              <a:rPr sz="1300" dirty="0" err="1"/>
              <a:t>đặc</a:t>
            </a:r>
            <a:r>
              <a:rPr sz="1300" dirty="0"/>
              <a:t> </a:t>
            </a:r>
            <a:r>
              <a:rPr sz="1300" dirty="0" err="1"/>
              <a:t>trưng</a:t>
            </a:r>
            <a:r>
              <a:rPr sz="1300" dirty="0"/>
              <a:t> </a:t>
            </a:r>
            <a:r>
              <a:rPr sz="1300" dirty="0" err="1"/>
              <a:t>sau</a:t>
            </a:r>
            <a:r>
              <a:rPr sz="1300" dirty="0"/>
              <a:t> </a:t>
            </a:r>
            <a:r>
              <a:rPr sz="1300" dirty="0" err="1"/>
              <a:t>khi</a:t>
            </a:r>
            <a:r>
              <a:rPr sz="1300" dirty="0"/>
              <a:t> </a:t>
            </a:r>
            <a:r>
              <a:rPr sz="1300" dirty="0" err="1"/>
              <a:t>StandardScaler</a:t>
            </a:r>
            <a:r>
              <a:rPr sz="1300" dirty="0"/>
              <a:t> &amp; One-Hot Encoding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Tầng</a:t>
            </a:r>
            <a:r>
              <a:rPr sz="1300" dirty="0"/>
              <a:t> 1 (Hidden 1): Linear(225, 128)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</a:t>
            </a:r>
            <a:r>
              <a:rPr sz="1300" dirty="0" err="1"/>
              <a:t>Hàm</a:t>
            </a:r>
            <a:r>
              <a:rPr sz="1300" dirty="0"/>
              <a:t> </a:t>
            </a:r>
            <a:r>
              <a:rPr sz="1300" dirty="0" err="1"/>
              <a:t>kích</a:t>
            </a:r>
            <a:r>
              <a:rPr sz="1300" dirty="0"/>
              <a:t> </a:t>
            </a:r>
            <a:r>
              <a:rPr sz="1300" dirty="0" err="1"/>
              <a:t>hoạt</a:t>
            </a:r>
            <a:r>
              <a:rPr sz="1300" dirty="0"/>
              <a:t>: </a:t>
            </a:r>
            <a:r>
              <a:rPr sz="1300" dirty="0" err="1"/>
              <a:t>ReLU</a:t>
            </a:r>
            <a:r>
              <a:rPr sz="1300" dirty="0"/>
              <a:t>() </a:t>
            </a:r>
            <a:r>
              <a:rPr sz="1300" dirty="0" err="1"/>
              <a:t>sinh</a:t>
            </a:r>
            <a:r>
              <a:rPr sz="1300" dirty="0"/>
              <a:t> </a:t>
            </a:r>
            <a:r>
              <a:rPr sz="1300" dirty="0" err="1"/>
              <a:t>tính</a:t>
            </a:r>
            <a:r>
              <a:rPr sz="1300" dirty="0"/>
              <a:t> phi </a:t>
            </a:r>
            <a:r>
              <a:rPr sz="1300" dirty="0" err="1"/>
              <a:t>tuyến</a:t>
            </a:r>
            <a:endParaRPr sz="1300" dirty="0"/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Dropout(p=0.2): </a:t>
            </a:r>
            <a:r>
              <a:rPr sz="1300" dirty="0" err="1"/>
              <a:t>Chống</a:t>
            </a:r>
            <a:r>
              <a:rPr sz="1300" dirty="0"/>
              <a:t> </a:t>
            </a:r>
            <a:r>
              <a:rPr sz="1300" dirty="0" err="1"/>
              <a:t>hiện</a:t>
            </a:r>
            <a:r>
              <a:rPr sz="1300" dirty="0"/>
              <a:t> </a:t>
            </a:r>
            <a:r>
              <a:rPr sz="1300" dirty="0" err="1"/>
              <a:t>tượng</a:t>
            </a:r>
            <a:r>
              <a:rPr sz="1300" dirty="0"/>
              <a:t> </a:t>
            </a:r>
            <a:r>
              <a:rPr sz="1300" dirty="0" err="1"/>
              <a:t>quá</a:t>
            </a:r>
            <a:r>
              <a:rPr sz="1300" dirty="0"/>
              <a:t> </a:t>
            </a:r>
            <a:r>
              <a:rPr sz="1300" dirty="0" err="1"/>
              <a:t>khớp</a:t>
            </a:r>
            <a:r>
              <a:rPr sz="1300" dirty="0"/>
              <a:t> (Overfitting)</a:t>
            </a:r>
            <a:endParaRPr lang="en-US" sz="1300" dirty="0"/>
          </a:p>
          <a:p>
            <a:pPr>
              <a:defRPr sz="950">
                <a:solidFill>
                  <a:srgbClr val="2D3748"/>
                </a:solidFill>
              </a:defRPr>
            </a:pPr>
            <a:endParaRPr sz="1300" dirty="0"/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Tầng</a:t>
            </a:r>
            <a:r>
              <a:rPr sz="1300" dirty="0"/>
              <a:t> 2 (Hidden 2): Linear(128, 64)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</a:t>
            </a:r>
            <a:r>
              <a:rPr sz="1300" dirty="0" err="1"/>
              <a:t>Hàm</a:t>
            </a:r>
            <a:r>
              <a:rPr sz="1300" dirty="0"/>
              <a:t> </a:t>
            </a:r>
            <a:r>
              <a:rPr sz="1300" dirty="0" err="1"/>
              <a:t>kích</a:t>
            </a:r>
            <a:r>
              <a:rPr sz="1300" dirty="0"/>
              <a:t> </a:t>
            </a:r>
            <a:r>
              <a:rPr sz="1300" dirty="0" err="1"/>
              <a:t>hoạt</a:t>
            </a:r>
            <a:r>
              <a:rPr sz="1300" dirty="0"/>
              <a:t>: </a:t>
            </a:r>
            <a:r>
              <a:rPr sz="1300" dirty="0" err="1"/>
              <a:t>ReLU</a:t>
            </a:r>
            <a:r>
              <a:rPr sz="1300" dirty="0"/>
              <a:t>()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Dropout(p=0.2): </a:t>
            </a:r>
            <a:r>
              <a:rPr sz="1300" dirty="0" err="1"/>
              <a:t>Triệt</a:t>
            </a:r>
            <a:r>
              <a:rPr sz="1300" dirty="0"/>
              <a:t> </a:t>
            </a:r>
            <a:r>
              <a:rPr sz="1300" dirty="0" err="1"/>
              <a:t>tiêu</a:t>
            </a:r>
            <a:r>
              <a:rPr sz="1300" dirty="0"/>
              <a:t> </a:t>
            </a:r>
            <a:r>
              <a:rPr sz="1300" dirty="0" err="1"/>
              <a:t>ngẫu</a:t>
            </a:r>
            <a:r>
              <a:rPr sz="1300" dirty="0"/>
              <a:t> </a:t>
            </a:r>
            <a:r>
              <a:rPr sz="1300" dirty="0" err="1"/>
              <a:t>nhiên</a:t>
            </a:r>
            <a:r>
              <a:rPr sz="1300" dirty="0"/>
              <a:t> 20% </a:t>
            </a:r>
            <a:r>
              <a:rPr sz="1300" dirty="0" err="1"/>
              <a:t>nơ-ron</a:t>
            </a:r>
            <a:endParaRPr lang="en-US" sz="1300" dirty="0"/>
          </a:p>
          <a:p>
            <a:pPr>
              <a:defRPr sz="950">
                <a:solidFill>
                  <a:srgbClr val="2D3748"/>
                </a:solidFill>
              </a:defRPr>
            </a:pPr>
            <a:endParaRPr sz="1300" dirty="0"/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Tầng</a:t>
            </a:r>
            <a:r>
              <a:rPr sz="1300" dirty="0"/>
              <a:t> 3 (Output): Linear(64, 1)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</a:t>
            </a:r>
            <a:r>
              <a:rPr sz="1300" dirty="0" err="1"/>
              <a:t>Dự</a:t>
            </a:r>
            <a:r>
              <a:rPr sz="1300" dirty="0"/>
              <a:t> </a:t>
            </a:r>
            <a:r>
              <a:rPr sz="1300" dirty="0" err="1"/>
              <a:t>đoán</a:t>
            </a:r>
            <a:r>
              <a:rPr sz="1300" dirty="0"/>
              <a:t> </a:t>
            </a:r>
            <a:r>
              <a:rPr sz="1300" dirty="0" err="1"/>
              <a:t>giá</a:t>
            </a:r>
            <a:r>
              <a:rPr sz="1300" dirty="0"/>
              <a:t> </a:t>
            </a:r>
            <a:r>
              <a:rPr sz="1300" dirty="0" err="1"/>
              <a:t>trị</a:t>
            </a:r>
            <a:r>
              <a:rPr sz="1300" dirty="0"/>
              <a:t> </a:t>
            </a:r>
            <a:r>
              <a:rPr sz="1300" dirty="0" err="1"/>
              <a:t>liên</a:t>
            </a:r>
            <a:r>
              <a:rPr sz="1300" dirty="0"/>
              <a:t> </a:t>
            </a:r>
            <a:r>
              <a:rPr sz="1300" dirty="0" err="1"/>
              <a:t>tục</a:t>
            </a:r>
            <a:r>
              <a:rPr sz="1300" dirty="0"/>
              <a:t> </a:t>
            </a:r>
            <a:r>
              <a:rPr sz="1300" dirty="0" err="1"/>
              <a:t>trên</a:t>
            </a:r>
            <a:r>
              <a:rPr sz="1300" dirty="0"/>
              <a:t> </a:t>
            </a:r>
            <a:r>
              <a:rPr sz="1300" dirty="0" err="1"/>
              <a:t>không</a:t>
            </a:r>
            <a:r>
              <a:rPr sz="1300" dirty="0"/>
              <a:t> </a:t>
            </a:r>
            <a:r>
              <a:rPr sz="1300" dirty="0" err="1"/>
              <a:t>gian</a:t>
            </a:r>
            <a:r>
              <a:rPr sz="1300" dirty="0"/>
              <a:t> </a:t>
            </a:r>
            <a:r>
              <a:rPr sz="1300" dirty="0" err="1"/>
              <a:t>chuẩn</a:t>
            </a:r>
            <a:r>
              <a:rPr sz="1300" dirty="0"/>
              <a:t> </a:t>
            </a:r>
            <a:r>
              <a:rPr sz="1300" dirty="0" err="1"/>
              <a:t>hóa</a:t>
            </a:r>
            <a:endParaRPr sz="1300" dirty="0"/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Tổng</a:t>
            </a:r>
            <a:r>
              <a:rPr sz="1300" dirty="0"/>
              <a:t> </a:t>
            </a:r>
            <a:r>
              <a:rPr sz="1300" dirty="0" err="1"/>
              <a:t>tham</a:t>
            </a:r>
            <a:r>
              <a:rPr sz="1300" dirty="0"/>
              <a:t> </a:t>
            </a:r>
            <a:r>
              <a:rPr sz="1300" dirty="0" err="1"/>
              <a:t>số</a:t>
            </a:r>
            <a:r>
              <a:rPr sz="1300" dirty="0"/>
              <a:t>: 37,121 </a:t>
            </a:r>
            <a:r>
              <a:rPr sz="1300" dirty="0" err="1"/>
              <a:t>tham</a:t>
            </a:r>
            <a:r>
              <a:rPr sz="1300" dirty="0"/>
              <a:t> </a:t>
            </a:r>
            <a:r>
              <a:rPr sz="1300" dirty="0" err="1"/>
              <a:t>số</a:t>
            </a:r>
            <a:r>
              <a:rPr sz="1300" dirty="0"/>
              <a:t> (100% </a:t>
            </a:r>
            <a:r>
              <a:rPr sz="1300" dirty="0" err="1"/>
              <a:t>có</a:t>
            </a:r>
            <a:r>
              <a:rPr sz="1300" dirty="0"/>
              <a:t> </a:t>
            </a:r>
            <a:r>
              <a:rPr sz="1300" dirty="0" err="1"/>
              <a:t>thể</a:t>
            </a:r>
            <a:r>
              <a:rPr sz="1300" dirty="0"/>
              <a:t> </a:t>
            </a:r>
            <a:r>
              <a:rPr sz="1300" dirty="0" err="1"/>
              <a:t>huấn</a:t>
            </a:r>
            <a:r>
              <a:rPr sz="1300" dirty="0"/>
              <a:t> </a:t>
            </a:r>
            <a:r>
              <a:rPr sz="1300" dirty="0" err="1"/>
              <a:t>luyện</a:t>
            </a:r>
            <a:r>
              <a:rPr sz="1300" dirty="0"/>
              <a:t>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• </a:t>
            </a:r>
            <a:r>
              <a:rPr sz="1300" dirty="0" err="1"/>
              <a:t>Tối</a:t>
            </a:r>
            <a:r>
              <a:rPr sz="1300" dirty="0"/>
              <a:t> </a:t>
            </a:r>
            <a:r>
              <a:rPr sz="1300" dirty="0" err="1"/>
              <a:t>ưu</a:t>
            </a:r>
            <a:r>
              <a:rPr sz="1300" dirty="0"/>
              <a:t> </a:t>
            </a:r>
            <a:r>
              <a:rPr sz="1300" dirty="0" err="1"/>
              <a:t>hóa</a:t>
            </a:r>
            <a:r>
              <a:rPr sz="1300" dirty="0"/>
              <a:t> &amp; </a:t>
            </a:r>
            <a:r>
              <a:rPr sz="1300" dirty="0" err="1"/>
              <a:t>Lập</a:t>
            </a:r>
            <a:r>
              <a:rPr sz="1300" dirty="0"/>
              <a:t> </a:t>
            </a:r>
            <a:r>
              <a:rPr sz="1300" dirty="0" err="1"/>
              <a:t>lịch</a:t>
            </a:r>
            <a:r>
              <a:rPr sz="1300" dirty="0"/>
              <a:t> </a:t>
            </a:r>
            <a:r>
              <a:rPr sz="1300" dirty="0" err="1"/>
              <a:t>học</a:t>
            </a:r>
            <a:r>
              <a:rPr sz="1300" dirty="0"/>
              <a:t>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Optimizer: Adam (Initial LR = 0.001, Weight Decay = 0.001)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Scheduler: </a:t>
            </a:r>
            <a:r>
              <a:rPr sz="1300" dirty="0" err="1"/>
              <a:t>ReduceLROnPlateau</a:t>
            </a:r>
            <a:r>
              <a:rPr sz="1300" dirty="0"/>
              <a:t> (factor=0.5, patience=8, </a:t>
            </a:r>
            <a:r>
              <a:rPr sz="1300" dirty="0" err="1"/>
              <a:t>min_lr</a:t>
            </a:r>
            <a:r>
              <a:rPr sz="1300" dirty="0"/>
              <a:t>=1e-5)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- Batch Size: 32 (Train) / 64 (Val) | 120 Epochs | </a:t>
            </a:r>
            <a:r>
              <a:rPr sz="1300" dirty="0" err="1"/>
              <a:t>Thời</a:t>
            </a:r>
            <a:r>
              <a:rPr sz="1300" dirty="0"/>
              <a:t> </a:t>
            </a:r>
            <a:r>
              <a:rPr sz="1300" dirty="0" err="1"/>
              <a:t>gian</a:t>
            </a:r>
            <a:r>
              <a:rPr sz="1300" dirty="0"/>
              <a:t> </a:t>
            </a:r>
            <a:r>
              <a:rPr sz="1300" dirty="0" err="1"/>
              <a:t>chạy</a:t>
            </a:r>
            <a:r>
              <a:rPr sz="1300" dirty="0"/>
              <a:t>: ~7.3s </a:t>
            </a:r>
            <a:r>
              <a:rPr sz="1300" dirty="0" err="1"/>
              <a:t>trên</a:t>
            </a:r>
            <a:r>
              <a:rPr sz="1300" dirty="0"/>
              <a:t> 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674686"/>
            <a:ext cx="5699455" cy="50292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674686"/>
            <a:ext cx="5699455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KẾT QUẢ HUẤN LUYỆN &amp; PHÂN TÍCH ĐỐI CHỨNG (ABLATION)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13598"/>
            <a:ext cx="5516575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rPr sz="1300" dirty="0"/>
              <a:t>1. </a:t>
            </a:r>
            <a:r>
              <a:rPr sz="1300" dirty="0" err="1"/>
              <a:t>Quá</a:t>
            </a:r>
            <a:r>
              <a:rPr sz="1300" dirty="0"/>
              <a:t> </a:t>
            </a:r>
            <a:r>
              <a:rPr sz="1300" dirty="0" err="1"/>
              <a:t>trình</a:t>
            </a:r>
            <a:r>
              <a:rPr sz="1300" dirty="0"/>
              <a:t> </a:t>
            </a:r>
            <a:r>
              <a:rPr sz="1300" dirty="0" err="1"/>
              <a:t>hội</a:t>
            </a:r>
            <a:r>
              <a:rPr sz="1300" dirty="0"/>
              <a:t> </a:t>
            </a:r>
            <a:r>
              <a:rPr sz="1300" dirty="0" err="1"/>
              <a:t>tụ</a:t>
            </a:r>
            <a:r>
              <a:rPr sz="1300" dirty="0"/>
              <a:t> &amp; </a:t>
            </a:r>
            <a:r>
              <a:rPr sz="1300" dirty="0" err="1"/>
              <a:t>Chỉ</a:t>
            </a:r>
            <a:r>
              <a:rPr sz="1300" dirty="0"/>
              <a:t> </a:t>
            </a:r>
            <a:r>
              <a:rPr sz="1300" dirty="0" err="1"/>
              <a:t>số</a:t>
            </a:r>
            <a:r>
              <a:rPr sz="1300" dirty="0"/>
              <a:t> </a:t>
            </a:r>
            <a:r>
              <a:rPr sz="1300" dirty="0" err="1"/>
              <a:t>kiểm</a:t>
            </a:r>
            <a:r>
              <a:rPr sz="1300" dirty="0"/>
              <a:t> </a:t>
            </a:r>
            <a:r>
              <a:rPr sz="1300" dirty="0" err="1"/>
              <a:t>định</a:t>
            </a:r>
            <a:r>
              <a:rPr sz="1300" dirty="0"/>
              <a:t> Validation: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Train MSE Loss: </a:t>
            </a:r>
            <a:r>
              <a:rPr sz="1300" dirty="0" err="1"/>
              <a:t>Giảm</a:t>
            </a:r>
            <a:r>
              <a:rPr sz="1300" dirty="0"/>
              <a:t> </a:t>
            </a:r>
            <a:r>
              <a:rPr sz="1300" dirty="0" err="1"/>
              <a:t>ổn</a:t>
            </a:r>
            <a:r>
              <a:rPr sz="1300" dirty="0"/>
              <a:t> </a:t>
            </a:r>
            <a:r>
              <a:rPr sz="1300" dirty="0" err="1"/>
              <a:t>định</a:t>
            </a:r>
            <a:r>
              <a:rPr sz="1300" dirty="0"/>
              <a:t> </a:t>
            </a:r>
            <a:r>
              <a:rPr sz="1300" dirty="0" err="1"/>
              <a:t>từ</a:t>
            </a:r>
            <a:r>
              <a:rPr sz="1300" dirty="0"/>
              <a:t> 0.4427 (Epoch 1) → 0.0225 (Epoch 120)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Validation RMSE: Đạt </a:t>
            </a:r>
            <a:r>
              <a:rPr sz="1300" dirty="0" err="1"/>
              <a:t>đỉnh</a:t>
            </a:r>
            <a:r>
              <a:rPr sz="1300" dirty="0"/>
              <a:t> </a:t>
            </a:r>
            <a:r>
              <a:rPr sz="1300" dirty="0" err="1"/>
              <a:t>tối</a:t>
            </a:r>
            <a:r>
              <a:rPr sz="1300" dirty="0"/>
              <a:t> </a:t>
            </a:r>
            <a:r>
              <a:rPr sz="1300" dirty="0" err="1"/>
              <a:t>ưu</a:t>
            </a:r>
            <a:r>
              <a:rPr sz="1300" dirty="0"/>
              <a:t> 0.1252 </a:t>
            </a:r>
            <a:r>
              <a:rPr sz="1300" dirty="0" err="1"/>
              <a:t>tại</a:t>
            </a:r>
            <a:r>
              <a:rPr sz="1300" dirty="0"/>
              <a:t> Epoch 30 (</a:t>
            </a:r>
            <a:r>
              <a:rPr sz="1300" dirty="0" err="1"/>
              <a:t>sau</a:t>
            </a:r>
            <a:r>
              <a:rPr sz="1300" dirty="0"/>
              <a:t> </a:t>
            </a:r>
            <a:r>
              <a:rPr sz="1300" dirty="0" err="1"/>
              <a:t>đó</a:t>
            </a:r>
            <a:r>
              <a:rPr sz="1300" dirty="0"/>
              <a:t> </a:t>
            </a:r>
            <a:r>
              <a:rPr sz="1300" dirty="0" err="1"/>
              <a:t>học</a:t>
            </a:r>
            <a:r>
              <a:rPr sz="1300" dirty="0"/>
              <a:t> </a:t>
            </a:r>
            <a:r>
              <a:rPr sz="1300" dirty="0" err="1"/>
              <a:t>ổn</a:t>
            </a:r>
            <a:r>
              <a:rPr sz="1300" dirty="0"/>
              <a:t> </a:t>
            </a:r>
            <a:r>
              <a:rPr sz="1300" dirty="0" err="1"/>
              <a:t>định</a:t>
            </a:r>
            <a:r>
              <a:rPr sz="1300" dirty="0"/>
              <a:t> </a:t>
            </a:r>
            <a:r>
              <a:rPr sz="1300" dirty="0" err="1"/>
              <a:t>nhờ</a:t>
            </a:r>
            <a:r>
              <a:rPr sz="1300" dirty="0"/>
              <a:t> </a:t>
            </a:r>
            <a:r>
              <a:rPr sz="1300" dirty="0" err="1"/>
              <a:t>ReduceLROnPlateau</a:t>
            </a:r>
            <a:r>
              <a:rPr sz="1300" dirty="0"/>
              <a:t>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Validation R²: 0.9123 | Validation MAE: 0.0902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endParaRPr sz="1300" dirty="0"/>
          </a:p>
          <a:p>
            <a:pPr>
              <a:defRPr sz="1050" b="1">
                <a:solidFill>
                  <a:srgbClr val="1A365D"/>
                </a:solidFill>
              </a:defRPr>
            </a:pPr>
            <a:r>
              <a:rPr sz="1300" dirty="0"/>
              <a:t>2. THỰC NGHIỆM ĐỐI CHỨNG ĐẶC TRƯNG (TOP 50 VS 225):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(</a:t>
            </a:r>
            <a:r>
              <a:rPr sz="1300" dirty="0" err="1"/>
              <a:t>Đính</a:t>
            </a:r>
            <a:r>
              <a:rPr sz="1300" dirty="0"/>
              <a:t> </a:t>
            </a:r>
            <a:r>
              <a:rPr sz="1300" dirty="0" err="1"/>
              <a:t>chính</a:t>
            </a:r>
            <a:r>
              <a:rPr sz="1300" dirty="0"/>
              <a:t> </a:t>
            </a:r>
            <a:r>
              <a:rPr sz="1300" dirty="0" err="1"/>
              <a:t>số</a:t>
            </a:r>
            <a:r>
              <a:rPr sz="1300" dirty="0"/>
              <a:t> </a:t>
            </a:r>
            <a:r>
              <a:rPr sz="1300" dirty="0" err="1"/>
              <a:t>liệu</a:t>
            </a:r>
            <a:r>
              <a:rPr sz="1300" dirty="0"/>
              <a:t> </a:t>
            </a:r>
            <a:r>
              <a:rPr sz="1300" dirty="0" err="1"/>
              <a:t>báo</a:t>
            </a:r>
            <a:r>
              <a:rPr sz="1300" dirty="0"/>
              <a:t> </a:t>
            </a:r>
            <a:r>
              <a:rPr sz="1300" dirty="0" err="1"/>
              <a:t>cáo</a:t>
            </a:r>
            <a:r>
              <a:rPr sz="1300" dirty="0"/>
              <a:t> </a:t>
            </a:r>
            <a:r>
              <a:rPr sz="1300" dirty="0" err="1"/>
              <a:t>theo</a:t>
            </a:r>
            <a:r>
              <a:rPr sz="1300" dirty="0"/>
              <a:t> </a:t>
            </a:r>
            <a:r>
              <a:rPr sz="1300" dirty="0" err="1"/>
              <a:t>ghi</a:t>
            </a:r>
            <a:r>
              <a:rPr sz="1300" dirty="0"/>
              <a:t> </a:t>
            </a:r>
            <a:r>
              <a:rPr sz="1300" dirty="0" err="1"/>
              <a:t>chú</a:t>
            </a:r>
            <a:r>
              <a:rPr sz="1300" dirty="0"/>
              <a:t> </a:t>
            </a:r>
            <a:r>
              <a:rPr sz="1300" dirty="0" err="1"/>
              <a:t>của</a:t>
            </a:r>
            <a:r>
              <a:rPr sz="1300" dirty="0"/>
              <a:t> Thành </a:t>
            </a:r>
            <a:r>
              <a:rPr sz="1300" dirty="0" err="1"/>
              <a:t>viên</a:t>
            </a:r>
            <a:r>
              <a:rPr sz="1300" dirty="0"/>
              <a:t> B)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• MLP </a:t>
            </a:r>
            <a:r>
              <a:rPr sz="1300" dirty="0" err="1"/>
              <a:t>trên</a:t>
            </a:r>
            <a:r>
              <a:rPr sz="1300" dirty="0"/>
              <a:t> </a:t>
            </a:r>
            <a:r>
              <a:rPr sz="1300" dirty="0" err="1"/>
              <a:t>toàn</a:t>
            </a:r>
            <a:r>
              <a:rPr sz="1300" dirty="0"/>
              <a:t> </a:t>
            </a:r>
            <a:r>
              <a:rPr sz="1300" dirty="0" err="1"/>
              <a:t>bộ</a:t>
            </a:r>
            <a:r>
              <a:rPr sz="1300" dirty="0"/>
              <a:t> 225 </a:t>
            </a:r>
            <a:r>
              <a:rPr sz="1300" dirty="0" err="1"/>
              <a:t>đặc</a:t>
            </a:r>
            <a:r>
              <a:rPr sz="1300" dirty="0"/>
              <a:t> </a:t>
            </a:r>
            <a:r>
              <a:rPr sz="1300" dirty="0" err="1"/>
              <a:t>trưng</a:t>
            </a:r>
            <a:r>
              <a:rPr sz="1300" dirty="0"/>
              <a:t>: Val RMSE = 0.1252 (</a:t>
            </a:r>
            <a:r>
              <a:rPr sz="1300" dirty="0" err="1"/>
              <a:t>Rất</a:t>
            </a:r>
            <a:r>
              <a:rPr sz="1300" dirty="0"/>
              <a:t> </a:t>
            </a:r>
            <a:r>
              <a:rPr sz="1300" dirty="0" err="1"/>
              <a:t>tốt</a:t>
            </a:r>
            <a:r>
              <a:rPr sz="1300" dirty="0"/>
              <a:t>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• MLP </a:t>
            </a:r>
            <a:r>
              <a:rPr sz="1300" dirty="0" err="1"/>
              <a:t>trên</a:t>
            </a:r>
            <a:r>
              <a:rPr sz="1300" dirty="0"/>
              <a:t> Top 50 </a:t>
            </a:r>
            <a:r>
              <a:rPr sz="1300" dirty="0" err="1"/>
              <a:t>đặc</a:t>
            </a:r>
            <a:r>
              <a:rPr sz="1300" dirty="0"/>
              <a:t> </a:t>
            </a:r>
            <a:r>
              <a:rPr sz="1300" dirty="0" err="1"/>
              <a:t>trưng</a:t>
            </a:r>
            <a:r>
              <a:rPr sz="1300" dirty="0"/>
              <a:t>: Val RMSE = 0.5332 (Hiệu </a:t>
            </a:r>
            <a:r>
              <a:rPr sz="1300" dirty="0" err="1"/>
              <a:t>suất</a:t>
            </a:r>
            <a:r>
              <a:rPr sz="1300" dirty="0"/>
              <a:t> </a:t>
            </a:r>
            <a:r>
              <a:rPr sz="1300" dirty="0" err="1"/>
              <a:t>giảm</a:t>
            </a:r>
            <a:r>
              <a:rPr sz="1300" dirty="0"/>
              <a:t> </a:t>
            </a:r>
            <a:r>
              <a:rPr sz="1300" dirty="0" err="1"/>
              <a:t>mạnh</a:t>
            </a:r>
            <a:r>
              <a:rPr sz="1300" dirty="0"/>
              <a:t>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• (</a:t>
            </a:r>
            <a:r>
              <a:rPr sz="1300" dirty="0" err="1"/>
              <a:t>Số</a:t>
            </a:r>
            <a:r>
              <a:rPr sz="1300" dirty="0"/>
              <a:t> </a:t>
            </a:r>
            <a:r>
              <a:rPr sz="1300" dirty="0" err="1"/>
              <a:t>liệu</a:t>
            </a:r>
            <a:r>
              <a:rPr sz="1300" dirty="0"/>
              <a:t> </a:t>
            </a:r>
            <a:r>
              <a:rPr sz="1300" dirty="0" err="1"/>
              <a:t>ghi</a:t>
            </a:r>
            <a:r>
              <a:rPr sz="1300" dirty="0"/>
              <a:t> </a:t>
            </a:r>
            <a:r>
              <a:rPr sz="1300" dirty="0" err="1"/>
              <a:t>nhận</a:t>
            </a:r>
            <a:r>
              <a:rPr sz="1300" dirty="0"/>
              <a:t> ban </a:t>
            </a:r>
            <a:r>
              <a:rPr sz="1300" dirty="0" err="1"/>
              <a:t>đầu</a:t>
            </a:r>
            <a:r>
              <a:rPr sz="1300" dirty="0"/>
              <a:t> </a:t>
            </a:r>
            <a:r>
              <a:rPr sz="1300" dirty="0" err="1"/>
              <a:t>khi</a:t>
            </a:r>
            <a:r>
              <a:rPr sz="1300" dirty="0"/>
              <a:t> </a:t>
            </a:r>
            <a:r>
              <a:rPr sz="1300" dirty="0" err="1"/>
              <a:t>chưa</a:t>
            </a:r>
            <a:r>
              <a:rPr sz="1300" dirty="0"/>
              <a:t> scale y: 0.2732 → 0.3588)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endParaRPr sz="1300" dirty="0"/>
          </a:p>
          <a:p>
            <a:pPr>
              <a:defRPr sz="1050" b="1">
                <a:solidFill>
                  <a:srgbClr val="1A365D"/>
                </a:solidFill>
              </a:defRPr>
            </a:pPr>
            <a:r>
              <a:rPr sz="1300" dirty="0"/>
              <a:t>3. GIẢI THÍCH BẢN CHẤT HỌC SÂU TRÊN DỮ LIỆU DẠNG BẢNG (TABULAR):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• Các </a:t>
            </a:r>
            <a:r>
              <a:rPr sz="1300" dirty="0" err="1"/>
              <a:t>mô</a:t>
            </a:r>
            <a:r>
              <a:rPr sz="1300" dirty="0"/>
              <a:t> </a:t>
            </a:r>
            <a:r>
              <a:rPr sz="1300" dirty="0" err="1"/>
              <a:t>hình</a:t>
            </a:r>
            <a:r>
              <a:rPr sz="1300" dirty="0"/>
              <a:t> </a:t>
            </a:r>
            <a:r>
              <a:rPr sz="1300" dirty="0" err="1"/>
              <a:t>cây</a:t>
            </a:r>
            <a:r>
              <a:rPr sz="1300" dirty="0"/>
              <a:t> (GBR, Random Forest) </a:t>
            </a:r>
            <a:r>
              <a:rPr sz="1300" dirty="0" err="1"/>
              <a:t>phân</a:t>
            </a:r>
            <a:r>
              <a:rPr sz="1300" dirty="0"/>
              <a:t> </a:t>
            </a:r>
            <a:r>
              <a:rPr sz="1300" dirty="0" err="1"/>
              <a:t>nhánh</a:t>
            </a:r>
            <a:r>
              <a:rPr sz="1300" dirty="0"/>
              <a:t> </a:t>
            </a:r>
            <a:r>
              <a:rPr sz="1300" dirty="0" err="1"/>
              <a:t>độc</a:t>
            </a:r>
            <a:r>
              <a:rPr sz="1300" dirty="0"/>
              <a:t> </a:t>
            </a:r>
            <a:r>
              <a:rPr sz="1300" dirty="0" err="1"/>
              <a:t>lập</a:t>
            </a:r>
            <a:r>
              <a:rPr sz="1300" dirty="0"/>
              <a:t> </a:t>
            </a:r>
            <a:r>
              <a:rPr sz="1300" dirty="0" err="1"/>
              <a:t>theo</a:t>
            </a:r>
            <a:r>
              <a:rPr sz="1300" dirty="0"/>
              <a:t> </a:t>
            </a:r>
            <a:r>
              <a:rPr sz="1300" dirty="0" err="1"/>
              <a:t>từng</a:t>
            </a:r>
            <a:r>
              <a:rPr sz="1300" dirty="0"/>
              <a:t> </a:t>
            </a:r>
            <a:r>
              <a:rPr sz="1300" dirty="0" err="1"/>
              <a:t>đặc</a:t>
            </a:r>
            <a:r>
              <a:rPr sz="1300" dirty="0"/>
              <a:t> </a:t>
            </a:r>
            <a:r>
              <a:rPr sz="1300" dirty="0" err="1"/>
              <a:t>trưng</a:t>
            </a:r>
            <a:r>
              <a:rPr sz="1300" dirty="0"/>
              <a:t> </a:t>
            </a:r>
            <a:r>
              <a:rPr sz="1300" dirty="0" err="1"/>
              <a:t>riêng</a:t>
            </a:r>
            <a:r>
              <a:rPr sz="1300" dirty="0"/>
              <a:t> </a:t>
            </a:r>
            <a:r>
              <a:rPr sz="1300" dirty="0" err="1"/>
              <a:t>rẽ</a:t>
            </a:r>
            <a:r>
              <a:rPr sz="1300" dirty="0"/>
              <a:t> </a:t>
            </a:r>
            <a:r>
              <a:rPr sz="1300" dirty="0" err="1"/>
              <a:t>nên</a:t>
            </a:r>
            <a:r>
              <a:rPr sz="1300" dirty="0"/>
              <a:t> </a:t>
            </a:r>
            <a:r>
              <a:rPr sz="1300" dirty="0" err="1"/>
              <a:t>chọn</a:t>
            </a:r>
            <a:r>
              <a:rPr sz="1300" dirty="0"/>
              <a:t> Top 50 </a:t>
            </a:r>
            <a:r>
              <a:rPr sz="1300" dirty="0" err="1"/>
              <a:t>vẫn</a:t>
            </a:r>
            <a:r>
              <a:rPr sz="1300" dirty="0"/>
              <a:t> </a:t>
            </a:r>
            <a:r>
              <a:rPr sz="1300" dirty="0" err="1"/>
              <a:t>giữ</a:t>
            </a:r>
            <a:r>
              <a:rPr sz="1300" dirty="0"/>
              <a:t> </a:t>
            </a:r>
            <a:r>
              <a:rPr sz="1300" dirty="0" err="1"/>
              <a:t>được</a:t>
            </a:r>
            <a:r>
              <a:rPr sz="1300" dirty="0"/>
              <a:t> 90% </a:t>
            </a:r>
            <a:r>
              <a:rPr sz="1300" dirty="0" err="1"/>
              <a:t>hiệu</a:t>
            </a:r>
            <a:r>
              <a:rPr sz="1300" dirty="0"/>
              <a:t> </a:t>
            </a:r>
            <a:r>
              <a:rPr sz="1300" dirty="0" err="1"/>
              <a:t>năng</a:t>
            </a:r>
            <a:r>
              <a:rPr sz="1300" dirty="0"/>
              <a:t>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rPr sz="1300" dirty="0"/>
              <a:t>  • </a:t>
            </a:r>
            <a:r>
              <a:rPr sz="1300" dirty="0" err="1"/>
              <a:t>Mạng</a:t>
            </a:r>
            <a:r>
              <a:rPr sz="1300" dirty="0"/>
              <a:t> </a:t>
            </a:r>
            <a:r>
              <a:rPr sz="1300" dirty="0" err="1"/>
              <a:t>nơ-ron</a:t>
            </a:r>
            <a:r>
              <a:rPr sz="1300" dirty="0"/>
              <a:t> </a:t>
            </a:r>
            <a:r>
              <a:rPr sz="1300" dirty="0" err="1"/>
              <a:t>sâu</a:t>
            </a:r>
            <a:r>
              <a:rPr sz="1300" dirty="0"/>
              <a:t> (MLP) </a:t>
            </a:r>
            <a:r>
              <a:rPr sz="1300" dirty="0" err="1"/>
              <a:t>biểu</a:t>
            </a:r>
            <a:r>
              <a:rPr sz="1300" dirty="0"/>
              <a:t> </a:t>
            </a:r>
            <a:r>
              <a:rPr sz="1300" dirty="0" err="1"/>
              <a:t>diễn</a:t>
            </a:r>
            <a:r>
              <a:rPr sz="1300" dirty="0"/>
              <a:t> </a:t>
            </a:r>
            <a:r>
              <a:rPr sz="1300" dirty="0" err="1"/>
              <a:t>quan</a:t>
            </a:r>
            <a:r>
              <a:rPr sz="1300" dirty="0"/>
              <a:t> </a:t>
            </a:r>
            <a:r>
              <a:rPr sz="1300" dirty="0" err="1"/>
              <a:t>hệ</a:t>
            </a:r>
            <a:r>
              <a:rPr sz="1300" dirty="0"/>
              <a:t> </a:t>
            </a:r>
            <a:r>
              <a:rPr sz="1300" dirty="0" err="1"/>
              <a:t>phối</a:t>
            </a:r>
            <a:r>
              <a:rPr sz="1300" dirty="0"/>
              <a:t> </a:t>
            </a:r>
            <a:r>
              <a:rPr sz="1300" dirty="0" err="1"/>
              <a:t>hợp</a:t>
            </a:r>
            <a:r>
              <a:rPr sz="1300" dirty="0"/>
              <a:t> </a:t>
            </a:r>
            <a:r>
              <a:rPr sz="1300" dirty="0" err="1"/>
              <a:t>giữa</a:t>
            </a:r>
            <a:r>
              <a:rPr sz="1300" dirty="0"/>
              <a:t> </a:t>
            </a:r>
            <a:r>
              <a:rPr sz="1300" dirty="0" err="1"/>
              <a:t>các</a:t>
            </a:r>
            <a:r>
              <a:rPr sz="1300" dirty="0"/>
              <a:t> </a:t>
            </a:r>
            <a:r>
              <a:rPr sz="1300" dirty="0" err="1"/>
              <a:t>biến</a:t>
            </a:r>
            <a:r>
              <a:rPr sz="1300" dirty="0"/>
              <a:t>. Khi One-Hot </a:t>
            </a:r>
            <a:r>
              <a:rPr sz="1300" dirty="0" err="1"/>
              <a:t>biến</a:t>
            </a:r>
            <a:r>
              <a:rPr sz="1300" dirty="0"/>
              <a:t> </a:t>
            </a:r>
            <a:r>
              <a:rPr sz="1300" dirty="0" err="1"/>
              <a:t>các</a:t>
            </a:r>
            <a:r>
              <a:rPr sz="1300" dirty="0"/>
              <a:t> </a:t>
            </a:r>
            <a:r>
              <a:rPr sz="1300" dirty="0" err="1"/>
              <a:t>biến</a:t>
            </a:r>
            <a:r>
              <a:rPr sz="1300" dirty="0"/>
              <a:t> </a:t>
            </a:r>
            <a:r>
              <a:rPr sz="1300" dirty="0" err="1"/>
              <a:t>phân</a:t>
            </a:r>
            <a:r>
              <a:rPr sz="1300" dirty="0"/>
              <a:t> </a:t>
            </a:r>
            <a:r>
              <a:rPr sz="1300" dirty="0" err="1"/>
              <a:t>loại</a:t>
            </a:r>
            <a:r>
              <a:rPr sz="1300" dirty="0"/>
              <a:t> </a:t>
            </a:r>
            <a:r>
              <a:rPr sz="1300" dirty="0" err="1"/>
              <a:t>thành</a:t>
            </a:r>
            <a:r>
              <a:rPr sz="1300" dirty="0"/>
              <a:t> </a:t>
            </a:r>
            <a:r>
              <a:rPr sz="1300" dirty="0" err="1"/>
              <a:t>nhiều</a:t>
            </a:r>
            <a:r>
              <a:rPr sz="1300" dirty="0"/>
              <a:t> </a:t>
            </a:r>
            <a:r>
              <a:rPr sz="1300" dirty="0" err="1"/>
              <a:t>cột</a:t>
            </a:r>
            <a:r>
              <a:rPr sz="1300" dirty="0"/>
              <a:t> </a:t>
            </a:r>
            <a:r>
              <a:rPr sz="1300" dirty="0" err="1"/>
              <a:t>nhị</a:t>
            </a:r>
            <a:r>
              <a:rPr sz="1300" dirty="0"/>
              <a:t> </a:t>
            </a:r>
            <a:r>
              <a:rPr sz="1300" dirty="0" err="1"/>
              <a:t>phân</a:t>
            </a:r>
            <a:r>
              <a:rPr sz="1300" dirty="0"/>
              <a:t> </a:t>
            </a:r>
            <a:r>
              <a:rPr sz="1300" dirty="0" err="1"/>
              <a:t>thưa</a:t>
            </a:r>
            <a:r>
              <a:rPr sz="1300" dirty="0"/>
              <a:t> </a:t>
            </a:r>
            <a:r>
              <a:rPr sz="1300" dirty="0" err="1"/>
              <a:t>thớt</a:t>
            </a:r>
            <a:r>
              <a:rPr sz="1300" dirty="0"/>
              <a:t>, </a:t>
            </a:r>
            <a:r>
              <a:rPr sz="1300" dirty="0" err="1"/>
              <a:t>việc</a:t>
            </a:r>
            <a:r>
              <a:rPr sz="1300" dirty="0"/>
              <a:t> </a:t>
            </a:r>
            <a:r>
              <a:rPr sz="1300" dirty="0" err="1"/>
              <a:t>cắt</a:t>
            </a:r>
            <a:r>
              <a:rPr sz="1300" dirty="0"/>
              <a:t> </a:t>
            </a:r>
            <a:r>
              <a:rPr sz="1300" dirty="0" err="1"/>
              <a:t>giảm</a:t>
            </a:r>
            <a:r>
              <a:rPr sz="1300" dirty="0"/>
              <a:t> </a:t>
            </a:r>
            <a:r>
              <a:rPr sz="1300" dirty="0" err="1"/>
              <a:t>xuống</a:t>
            </a:r>
            <a:r>
              <a:rPr sz="1300" dirty="0"/>
              <a:t> Top 50 </a:t>
            </a:r>
            <a:r>
              <a:rPr sz="1300" dirty="0" err="1"/>
              <a:t>làm</a:t>
            </a:r>
            <a:r>
              <a:rPr sz="1300" dirty="0"/>
              <a:t> </a:t>
            </a:r>
            <a:r>
              <a:rPr sz="1300" dirty="0" err="1"/>
              <a:t>đứt</a:t>
            </a:r>
            <a:r>
              <a:rPr sz="1300" dirty="0"/>
              <a:t> </a:t>
            </a:r>
            <a:r>
              <a:rPr sz="1300" dirty="0" err="1"/>
              <a:t>gãy</a:t>
            </a:r>
            <a:r>
              <a:rPr sz="1300" dirty="0"/>
              <a:t> </a:t>
            </a:r>
            <a:r>
              <a:rPr sz="1300" dirty="0" err="1"/>
              <a:t>thông</a:t>
            </a:r>
            <a:r>
              <a:rPr sz="1300" dirty="0"/>
              <a:t> tin </a:t>
            </a:r>
            <a:r>
              <a:rPr sz="1300" dirty="0" err="1"/>
              <a:t>biểu</a:t>
            </a:r>
            <a:r>
              <a:rPr sz="1300" dirty="0"/>
              <a:t> </a:t>
            </a:r>
            <a:r>
              <a:rPr sz="1300" dirty="0" err="1"/>
              <a:t>diễn</a:t>
            </a:r>
            <a:r>
              <a:rPr sz="1300" dirty="0"/>
              <a:t> </a:t>
            </a:r>
            <a:r>
              <a:rPr sz="1300" dirty="0" err="1"/>
              <a:t>của</a:t>
            </a:r>
            <a:r>
              <a:rPr sz="1300" dirty="0"/>
              <a:t> </a:t>
            </a:r>
            <a:r>
              <a:rPr sz="1300" dirty="0" err="1"/>
              <a:t>các</a:t>
            </a:r>
            <a:r>
              <a:rPr sz="1300" dirty="0"/>
              <a:t> </a:t>
            </a:r>
            <a:r>
              <a:rPr sz="1300" dirty="0" err="1"/>
              <a:t>hạng</a:t>
            </a:r>
            <a:r>
              <a:rPr sz="1300" dirty="0"/>
              <a:t> </a:t>
            </a:r>
            <a:r>
              <a:rPr sz="1300" dirty="0" err="1"/>
              <a:t>mục</a:t>
            </a:r>
            <a:r>
              <a:rPr sz="1300" dirty="0"/>
              <a:t>, </a:t>
            </a:r>
            <a:r>
              <a:rPr sz="1300" dirty="0" err="1"/>
              <a:t>khiến</a:t>
            </a:r>
            <a:r>
              <a:rPr sz="1300" dirty="0"/>
              <a:t> </a:t>
            </a:r>
            <a:r>
              <a:rPr sz="1300" dirty="0" err="1"/>
              <a:t>mạng</a:t>
            </a:r>
            <a:r>
              <a:rPr sz="1300" dirty="0"/>
              <a:t> </a:t>
            </a:r>
            <a:r>
              <a:rPr sz="1300" dirty="0" err="1"/>
              <a:t>nơ-ron</a:t>
            </a:r>
            <a:r>
              <a:rPr sz="1300" dirty="0"/>
              <a:t> </a:t>
            </a:r>
            <a:r>
              <a:rPr sz="1300" dirty="0" err="1"/>
              <a:t>mất</a:t>
            </a:r>
            <a:r>
              <a:rPr sz="1300" dirty="0"/>
              <a:t> </a:t>
            </a:r>
            <a:r>
              <a:rPr sz="1300" dirty="0" err="1"/>
              <a:t>khả</a:t>
            </a:r>
            <a:r>
              <a:rPr sz="1300" dirty="0"/>
              <a:t> </a:t>
            </a:r>
            <a:r>
              <a:rPr sz="1300" dirty="0" err="1"/>
              <a:t>năng</a:t>
            </a:r>
            <a:r>
              <a:rPr sz="1300" dirty="0"/>
              <a:t> </a:t>
            </a:r>
            <a:r>
              <a:rPr sz="1300" dirty="0" err="1"/>
              <a:t>học</a:t>
            </a:r>
            <a:r>
              <a:rPr sz="1300" dirty="0"/>
              <a:t> </a:t>
            </a:r>
            <a:r>
              <a:rPr sz="1300" dirty="0" err="1"/>
              <a:t>quan</a:t>
            </a:r>
            <a:r>
              <a:rPr sz="1300" dirty="0"/>
              <a:t> </a:t>
            </a:r>
            <a:r>
              <a:rPr sz="1300" dirty="0" err="1"/>
              <a:t>hệ</a:t>
            </a:r>
            <a:r>
              <a:rPr sz="1300" dirty="0"/>
              <a:t> </a:t>
            </a:r>
            <a:r>
              <a:rPr sz="1300" dirty="0" err="1"/>
              <a:t>phức</a:t>
            </a:r>
            <a:r>
              <a:rPr sz="1300" dirty="0"/>
              <a:t> </a:t>
            </a:r>
            <a:r>
              <a:rPr sz="1300" dirty="0" err="1"/>
              <a:t>tạp</a:t>
            </a:r>
            <a:r>
              <a:rPr sz="1300"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908</Words>
  <Application>Microsoft Office PowerPoint</Application>
  <PresentationFormat>Widescreen</PresentationFormat>
  <Paragraphs>175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Khoa</dc:creator>
  <cp:lastModifiedBy>Nguyen Khoa</cp:lastModifiedBy>
  <cp:revision>3</cp:revision>
  <dcterms:created xsi:type="dcterms:W3CDTF">2026-10-04T03:35:51Z</dcterms:created>
  <dcterms:modified xsi:type="dcterms:W3CDTF">2026-10-07T14:01:04Z</dcterms:modified>
</cp:coreProperties>
</file>
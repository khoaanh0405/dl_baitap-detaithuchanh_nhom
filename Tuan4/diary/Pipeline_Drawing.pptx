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65760"/>
            <a:ext cx="112772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000" b="1">
                <a:solidFill>
                  <a:srgbClr val="FFFFFF"/>
                </a:solidFill>
              </a:defRPr>
            </a:pPr>
            <a:r>
              <a:t>SƠ ĐỒ PIPELINE TOÀN DIỆN DỰ ÁN AMES HOUSING (LAB 03)</a:t>
            </a:r>
          </a:p>
          <a:p>
            <a:pPr algn="l">
              <a:defRPr sz="1100">
                <a:solidFill>
                  <a:srgbClr val="CBD5E1"/>
                </a:solidFill>
              </a:defRPr>
            </a:pPr>
            <a:r>
              <a:t>Luồng dữ liệu tích hợp: Dữ liệu thô → Tiền xử lý &amp; Kỹ thuật đặc trưng (A) → Nhánh Sklearn (B) &amp; Nhánh PyTorch MLP (C) → Dự đoán Kaggle</a:t>
            </a:r>
          </a:p>
        </p:txBody>
      </p:sp>
      <p:sp>
        <p:nvSpPr>
          <p:cNvPr id="3" name="Rounded Rectangle 2"/>
          <p:cNvSpPr/>
          <p:nvPr/>
        </p:nvSpPr>
        <p:spPr>
          <a:xfrm>
            <a:off x="457200" y="1371600"/>
            <a:ext cx="2011680" cy="5029200"/>
          </a:xfrm>
          <a:prstGeom prst="roundRect">
            <a:avLst/>
          </a:prstGeom>
          <a:solidFill>
            <a:srgbClr val="EBF8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371600"/>
            <a:ext cx="2011680" cy="411480"/>
          </a:xfrm>
          <a:prstGeom prst="round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 DỮ LIỆU GỐC (RAW)</a:t>
            </a:r>
          </a:p>
        </p:txBody>
      </p:sp>
      <p:sp>
        <p:nvSpPr>
          <p:cNvPr id="5" name="TextBox 4"/>
          <p:cNvSpPr txBox="1"/>
          <p:nvPr/>
        </p:nvSpPr>
        <p:spPr>
          <a:xfrm>
            <a:off x="548640" y="1810512"/>
            <a:ext cx="1828800" cy="4572000"/>
          </a:xfrm>
          <a:prstGeom prst="rect">
            <a:avLst/>
          </a:prstGeom>
          <a:noFill/>
        </p:spPr>
        <p:txBody>
          <a:bodyPr wrap="square">
            <a:spAutoFit/>
          </a:bodyPr>
          <a:lstStyle/>
          <a:p>
            <a:pPr>
              <a:defRPr b="1" sz="1100">
                <a:solidFill>
                  <a:srgbClr val="1A365D"/>
                </a:solidFill>
              </a:defRPr>
            </a:pPr>
            <a:r>
              <a:t>Tập dữ liệu Ames Housing:</a:t>
            </a:r>
          </a:p>
          <a:p>
            <a:pPr>
              <a:defRPr sz="950">
                <a:solidFill>
                  <a:srgbClr val="2D3748"/>
                </a:solidFill>
              </a:defRPr>
            </a:pPr>
            <a:r>
              <a:t>• train.csv: 1,460 dòng × 81 cột</a:t>
            </a:r>
          </a:p>
          <a:p>
            <a:pPr>
              <a:defRPr sz="950">
                <a:solidFill>
                  <a:srgbClr val="2D3748"/>
                </a:solidFill>
              </a:defRPr>
            </a:pPr>
            <a:r>
              <a:t>• test.csv: 1,459 dòng × 80 cột</a:t>
            </a:r>
          </a:p>
          <a:p>
            <a:pPr>
              <a:defRPr sz="950">
                <a:solidFill>
                  <a:srgbClr val="2D3748"/>
                </a:solidFill>
              </a:defRPr>
            </a:pPr>
            <a:r>
              <a:t>• Biến mục tiêu: SalePrice (Giá bán nhà thực tế)</a:t>
            </a:r>
          </a:p>
          <a:p>
            <a:pPr>
              <a:defRPr sz="950">
                <a:solidFill>
                  <a:srgbClr val="2D3748"/>
                </a:solidFill>
              </a:defRPr>
            </a:pPr>
            <a:r>
              <a:t>• Biến đổi log1p: y = log(1 + SalePrice) giúp phân phối đối xứng chuẩn (Skewed → Normal).</a:t>
            </a:r>
          </a:p>
          <a:p>
            <a:pPr>
              <a:defRPr sz="950">
                <a:solidFill>
                  <a:srgbClr val="2D3748"/>
                </a:solidFill>
              </a:defRPr>
            </a:pPr>
            <a:r>
              <a:t>• Đặc trưng đa dạng: 36 số thực/rời rạc, 43 định danh/phân loại.</a:t>
            </a:r>
          </a:p>
        </p:txBody>
      </p:sp>
      <p:sp>
        <p:nvSpPr>
          <p:cNvPr id="6" name="Rounded Rectangle 5"/>
          <p:cNvSpPr/>
          <p:nvPr/>
        </p:nvSpPr>
        <p:spPr>
          <a:xfrm>
            <a:off x="2651760" y="1371600"/>
            <a:ext cx="2468880" cy="5029200"/>
          </a:xfrm>
          <a:prstGeom prst="roundRect">
            <a:avLst/>
          </a:prstGeom>
          <a:solidFill>
            <a:srgbClr val="E6FFFA"/>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51760" y="1371600"/>
            <a:ext cx="2468880" cy="411480"/>
          </a:xfrm>
          <a:prstGeom prst="roundRect">
            <a:avLst/>
          </a:prstGeom>
          <a:solidFill>
            <a:srgbClr val="3197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 PREPROCESSING &amp; FE (A)</a:t>
            </a:r>
          </a:p>
        </p:txBody>
      </p:sp>
      <p:sp>
        <p:nvSpPr>
          <p:cNvPr id="8" name="TextBox 7"/>
          <p:cNvSpPr txBox="1"/>
          <p:nvPr/>
        </p:nvSpPr>
        <p:spPr>
          <a:xfrm>
            <a:off x="2743200" y="1810512"/>
            <a:ext cx="2286000" cy="4572000"/>
          </a:xfrm>
          <a:prstGeom prst="rect">
            <a:avLst/>
          </a:prstGeom>
          <a:noFill/>
        </p:spPr>
        <p:txBody>
          <a:bodyPr wrap="square">
            <a:spAutoFit/>
          </a:bodyPr>
          <a:lstStyle/>
          <a:p>
            <a:pPr>
              <a:defRPr b="1" sz="1050">
                <a:solidFill>
                  <a:srgbClr val="319795"/>
                </a:solidFill>
              </a:defRPr>
            </a:pPr>
            <a:r>
              <a:t>Thành viên A: Nguyễn Hữu Anh Khoa</a:t>
            </a:r>
          </a:p>
          <a:p>
            <a:pPr>
              <a:defRPr sz="950">
                <a:solidFill>
                  <a:srgbClr val="2D3748"/>
                </a:solidFill>
              </a:defRPr>
            </a:pPr>
            <a:r>
              <a:t>• Xử lý Missing Values:</a:t>
            </a:r>
          </a:p>
          <a:p>
            <a:pPr>
              <a:defRPr sz="950">
                <a:solidFill>
                  <a:srgbClr val="2D3748"/>
                </a:solidFill>
              </a:defRPr>
            </a:pPr>
            <a:r>
              <a:t>  - Số diện tích/phòng: điền 0</a:t>
            </a:r>
          </a:p>
          <a:p>
            <a:pPr>
              <a:defRPr sz="950">
                <a:solidFill>
                  <a:srgbClr val="2D3748"/>
                </a:solidFill>
              </a:defRPr>
            </a:pPr>
            <a:r>
              <a:t>  - Hạng mục NA = None (PoolQC, Garage...)</a:t>
            </a:r>
          </a:p>
          <a:p>
            <a:pPr>
              <a:defRPr sz="950">
                <a:solidFill>
                  <a:srgbClr val="2D3748"/>
                </a:solidFill>
              </a:defRPr>
            </a:pPr>
            <a:r>
              <a:t>  - LotFrontage: Median theo Neighborhood</a:t>
            </a:r>
          </a:p>
          <a:p>
            <a:pPr>
              <a:defRPr sz="950">
                <a:solidFill>
                  <a:srgbClr val="2D3748"/>
                </a:solidFill>
              </a:defRPr>
            </a:pPr>
            <a:r>
              <a:t>• Mã hóa biến (Encoding):</a:t>
            </a:r>
          </a:p>
          <a:p>
            <a:pPr>
              <a:defRPr sz="950">
                <a:solidFill>
                  <a:srgbClr val="2D3748"/>
                </a:solidFill>
              </a:defRPr>
            </a:pPr>
            <a:r>
              <a:t>  - Ordinal Encoding: 17 cột thứ tự chất lượng (Ex, Gd, TA, Fa, Po → 5..1)</a:t>
            </a:r>
          </a:p>
          <a:p>
            <a:pPr>
              <a:defRPr sz="950">
                <a:solidFill>
                  <a:srgbClr val="2D3748"/>
                </a:solidFill>
              </a:defRPr>
            </a:pPr>
            <a:r>
              <a:t>  - One-Hot Encoding: pd.get_dummies()</a:t>
            </a:r>
          </a:p>
          <a:p>
            <a:pPr>
              <a:defRPr sz="950">
                <a:solidFill>
                  <a:srgbClr val="2D3748"/>
                </a:solidFill>
              </a:defRPr>
            </a:pPr>
            <a:r>
              <a:t>• StandardScaler: Chuẩn hóa Z-score toàn bộ biến</a:t>
            </a:r>
          </a:p>
          <a:p>
            <a:pPr>
              <a:defRPr sz="950">
                <a:solidFill>
                  <a:srgbClr val="2D3748"/>
                </a:solidFill>
              </a:defRPr>
            </a:pPr>
            <a:r>
              <a:t>• Feature Engineering:</a:t>
            </a:r>
          </a:p>
          <a:p>
            <a:pPr>
              <a:defRPr sz="950">
                <a:solidFill>
                  <a:srgbClr val="2D3748"/>
                </a:solidFill>
              </a:defRPr>
            </a:pPr>
            <a:r>
              <a:t>  - TotalSF = 1stFlrSF + 2ndFlrSF + TotalBsmtSF</a:t>
            </a:r>
          </a:p>
          <a:p>
            <a:pPr>
              <a:defRPr sz="950">
                <a:solidFill>
                  <a:srgbClr val="2D3748"/>
                </a:solidFill>
              </a:defRPr>
            </a:pPr>
            <a:r>
              <a:t>  - TotalBath, HouseAge, RemodAge, HasPool</a:t>
            </a:r>
          </a:p>
          <a:p>
            <a:pPr>
              <a:defRPr sz="950">
                <a:solidFill>
                  <a:srgbClr val="2D3748"/>
                </a:solidFill>
              </a:defRPr>
            </a:pPr>
            <a:r>
              <a:t>  - Drop 9 cột thành phần chống đa cộng tuyến</a:t>
            </a:r>
          </a:p>
          <a:p>
            <a:pPr>
              <a:defRPr sz="950">
                <a:solidFill>
                  <a:srgbClr val="2D3748"/>
                </a:solidFill>
              </a:defRPr>
            </a:pPr>
            <a:r>
              <a:t>• Bàn giao: 225 đặc trưng (x_train, y_train, x_test)</a:t>
            </a:r>
          </a:p>
        </p:txBody>
      </p:sp>
      <p:sp>
        <p:nvSpPr>
          <p:cNvPr id="9" name="Rounded Rectangle 8"/>
          <p:cNvSpPr/>
          <p:nvPr/>
        </p:nvSpPr>
        <p:spPr>
          <a:xfrm>
            <a:off x="5303520" y="1371600"/>
            <a:ext cx="3108960" cy="2423160"/>
          </a:xfrm>
          <a:prstGeom prst="roundRect">
            <a:avLst/>
          </a:prstGeom>
          <a:solidFill>
            <a:srgbClr val="EBF8FF"/>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303520" y="1371600"/>
            <a:ext cx="3108960" cy="41148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 SKLEARN MODELS (B)</a:t>
            </a:r>
          </a:p>
        </p:txBody>
      </p:sp>
      <p:sp>
        <p:nvSpPr>
          <p:cNvPr id="11" name="TextBox 10"/>
          <p:cNvSpPr txBox="1"/>
          <p:nvPr/>
        </p:nvSpPr>
        <p:spPr>
          <a:xfrm>
            <a:off x="5394960" y="1810512"/>
            <a:ext cx="2926080" cy="1965960"/>
          </a:xfrm>
          <a:prstGeom prst="rect">
            <a:avLst/>
          </a:prstGeom>
          <a:noFill/>
        </p:spPr>
        <p:txBody>
          <a:bodyPr wrap="square">
            <a:spAutoFit/>
          </a:bodyPr>
          <a:lstStyle/>
          <a:p>
            <a:pPr>
              <a:defRPr b="1" sz="1050">
                <a:solidFill>
                  <a:srgbClr val="2B6CB0"/>
                </a:solidFill>
              </a:defRPr>
            </a:pPr>
            <a:r>
              <a:t>Thành viên B: Nguyễn Đức Tài</a:t>
            </a:r>
          </a:p>
          <a:p>
            <a:pPr>
              <a:defRPr sz="900">
                <a:solidFill>
                  <a:srgbClr val="2D3748"/>
                </a:solidFill>
              </a:defRPr>
            </a:pPr>
            <a:r>
              <a:t>• Split: 80% Train (1168) / 20% Val (292), seed=42</a:t>
            </a:r>
          </a:p>
          <a:p>
            <a:pPr>
              <a:defRPr sz="900">
                <a:solidFill>
                  <a:srgbClr val="2D3748"/>
                </a:solidFill>
              </a:defRPr>
            </a:pPr>
            <a:r>
              <a:t>• Baseline 7 mô hình: Linear, Ridge, Lasso, ElasticNet, Random Forest, GBR, HistGB</a:t>
            </a:r>
          </a:p>
          <a:p>
            <a:pPr>
              <a:defRPr sz="900">
                <a:solidFill>
                  <a:srgbClr val="2D3748"/>
                </a:solidFill>
              </a:defRPr>
            </a:pPr>
            <a:r>
              <a:t>• Feature Selection: Thử nghiệm Top 100, 50, 30 theo GBR importance</a:t>
            </a:r>
          </a:p>
          <a:p>
            <a:pPr>
              <a:defRPr sz="900">
                <a:solidFill>
                  <a:srgbClr val="2D3748"/>
                </a:solidFill>
              </a:defRPr>
            </a:pPr>
            <a:r>
              <a:t>• Tuning: GridSearchCV &amp; RandomizedSearchCV</a:t>
            </a:r>
          </a:p>
          <a:p>
            <a:pPr>
              <a:defRPr sz="900">
                <a:solidFill>
                  <a:srgbClr val="2D3748"/>
                </a:solidFill>
              </a:defRPr>
            </a:pPr>
            <a:r>
              <a:t>• Ensemble 4 mô hình: ElasticNet + Ridge + GBR + HistGB (Trung bình đều)</a:t>
            </a:r>
          </a:p>
          <a:p>
            <a:pPr>
              <a:defRPr sz="900">
                <a:solidFill>
                  <a:srgbClr val="2D3748"/>
                </a:solidFill>
              </a:defRPr>
            </a:pPr>
            <a:r>
              <a:t>• Đánh giá: 5-Fold CV RMSE = 0.1259 | Val = 0.1244</a:t>
            </a:r>
          </a:p>
        </p:txBody>
      </p:sp>
      <p:sp>
        <p:nvSpPr>
          <p:cNvPr id="12" name="Rounded Rectangle 11"/>
          <p:cNvSpPr/>
          <p:nvPr/>
        </p:nvSpPr>
        <p:spPr>
          <a:xfrm>
            <a:off x="5303520" y="3977639"/>
            <a:ext cx="3108960" cy="2423160"/>
          </a:xfrm>
          <a:prstGeom prst="roundRect">
            <a:avLst/>
          </a:prstGeom>
          <a:solidFill>
            <a:srgbClr val="FEEBE2"/>
          </a:solidFill>
          <a:ln w="19050">
            <a:solidFill>
              <a:srgbClr val="DD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03520" y="3977639"/>
            <a:ext cx="3108960" cy="411480"/>
          </a:xfrm>
          <a:prstGeom prst="round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3B. PYTORCH MLP (C - NHÓM TRƯỞNG)</a:t>
            </a:r>
          </a:p>
        </p:txBody>
      </p:sp>
      <p:sp>
        <p:nvSpPr>
          <p:cNvPr id="14" name="TextBox 13"/>
          <p:cNvSpPr txBox="1"/>
          <p:nvPr/>
        </p:nvSpPr>
        <p:spPr>
          <a:xfrm>
            <a:off x="5394960" y="4416551"/>
            <a:ext cx="2926080" cy="1965960"/>
          </a:xfrm>
          <a:prstGeom prst="rect">
            <a:avLst/>
          </a:prstGeom>
          <a:noFill/>
        </p:spPr>
        <p:txBody>
          <a:bodyPr wrap="square">
            <a:spAutoFit/>
          </a:bodyPr>
          <a:lstStyle/>
          <a:p>
            <a:pPr>
              <a:defRPr b="1" sz="1050">
                <a:solidFill>
                  <a:srgbClr val="DD6B20"/>
                </a:solidFill>
              </a:defRPr>
            </a:pPr>
            <a:r>
              <a:t>Thành viên C: Vũ Việt Hoàng (MSSV: 3123411108)</a:t>
            </a:r>
          </a:p>
          <a:p>
            <a:pPr>
              <a:defRPr sz="900">
                <a:solidFill>
                  <a:srgbClr val="2D3748"/>
                </a:solidFill>
              </a:defRPr>
            </a:pPr>
            <a:r>
              <a:t>• Split: 80/20 (seed=42) đồng bộ; CustomDataset &amp; DataLoader (Batch 32)</a:t>
            </a:r>
          </a:p>
          <a:p>
            <a:pPr>
              <a:defRPr sz="900">
                <a:solidFill>
                  <a:srgbClr val="2D3748"/>
                </a:solidFill>
              </a:defRPr>
            </a:pPr>
            <a:r>
              <a:t>• Kiến trúc MLP: Input(225) → Linear(128)+ReLU+Dropout(0.2) → Linear(64)+ReLU+Dropout(0.2) → Linear(1)</a:t>
            </a:r>
          </a:p>
          <a:p>
            <a:pPr>
              <a:defRPr sz="900">
                <a:solidFill>
                  <a:srgbClr val="2D3748"/>
                </a:solidFill>
              </a:defRPr>
            </a:pPr>
            <a:r>
              <a:t>• Huấn luyện: Adam (lr=0.001) + MSELoss + ReduceLROnPlateau (120 epochs)</a:t>
            </a:r>
          </a:p>
          <a:p>
            <a:pPr>
              <a:defRPr sz="900">
                <a:solidFill>
                  <a:srgbClr val="2D3748"/>
                </a:solidFill>
              </a:defRPr>
            </a:pPr>
            <a:r>
              <a:t>• Chuẩn hóa y (Zero-mean, unit-var) giúp hội tụ nhanh</a:t>
            </a:r>
          </a:p>
          <a:p>
            <a:pPr>
              <a:defRPr sz="900">
                <a:solidFill>
                  <a:srgbClr val="2D3748"/>
                </a:solidFill>
              </a:defRPr>
            </a:pPr>
            <a:r>
              <a:t>• Thực nghiệm đối chứng: Top 50 đặc trưng làm RMSE tăng vọt từ 0.1252 lên 0.5332 (khẳng định mạng nơ-ron cần không gian đầy đủ)</a:t>
            </a:r>
          </a:p>
          <a:p>
            <a:pPr>
              <a:defRPr sz="900">
                <a:solidFill>
                  <a:srgbClr val="2D3748"/>
                </a:solidFill>
              </a:defRPr>
            </a:pPr>
            <a:r>
              <a:t>• Đánh giá: Val RMSE = 0.1252 | Val R² = 0.9123</a:t>
            </a:r>
          </a:p>
        </p:txBody>
      </p:sp>
      <p:sp>
        <p:nvSpPr>
          <p:cNvPr id="15" name="Rounded Rectangle 14"/>
          <p:cNvSpPr/>
          <p:nvPr/>
        </p:nvSpPr>
        <p:spPr>
          <a:xfrm>
            <a:off x="8595360" y="1371600"/>
            <a:ext cx="3139135" cy="5029200"/>
          </a:xfrm>
          <a:prstGeom prst="roundRect">
            <a:avLst/>
          </a:prstGeom>
          <a:solidFill>
            <a:srgbClr val="FAF5FF"/>
          </a:solidFill>
          <a:ln w="19050">
            <a:solidFill>
              <a:srgbClr val="6B4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595360" y="1371600"/>
            <a:ext cx="3139135" cy="41148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 PREDICTION &amp; KAGGLE SCORE</a:t>
            </a:r>
          </a:p>
        </p:txBody>
      </p:sp>
      <p:sp>
        <p:nvSpPr>
          <p:cNvPr id="17" name="TextBox 16"/>
          <p:cNvSpPr txBox="1"/>
          <p:nvPr/>
        </p:nvSpPr>
        <p:spPr>
          <a:xfrm>
            <a:off x="8686800" y="1810512"/>
            <a:ext cx="2956255" cy="4572000"/>
          </a:xfrm>
          <a:prstGeom prst="rect">
            <a:avLst/>
          </a:prstGeom>
          <a:noFill/>
        </p:spPr>
        <p:txBody>
          <a:bodyPr wrap="square">
            <a:spAutoFit/>
          </a:bodyPr>
          <a:lstStyle/>
          <a:p>
            <a:pPr>
              <a:defRPr b="1" sz="1100">
                <a:solidFill>
                  <a:srgbClr val="6B46C1"/>
                </a:solidFill>
              </a:defRPr>
            </a:pPr>
            <a:r>
              <a:t>ĐÁNH GIÁ &amp; XUẤT SUBMISSION</a:t>
            </a:r>
          </a:p>
          <a:p>
            <a:pPr>
              <a:defRPr sz="950">
                <a:solidFill>
                  <a:srgbClr val="2D3748"/>
                </a:solidFill>
              </a:defRPr>
            </a:pPr>
            <a:r>
              <a:t>• Xử lý tập kiểm thử x_test.xlsx (1459 dòng):</a:t>
            </a:r>
          </a:p>
          <a:p>
            <a:pPr>
              <a:defRPr sz="950">
                <a:solidFill>
                  <a:srgbClr val="2D3748"/>
                </a:solidFill>
              </a:defRPr>
            </a:pPr>
            <a:r>
              <a:t>  - Điền giá trị rỗng (fillna 0)</a:t>
            </a:r>
          </a:p>
          <a:p>
            <a:pPr>
              <a:defRPr sz="950">
                <a:solidFill>
                  <a:srgbClr val="2D3748"/>
                </a:solidFill>
              </a:defRPr>
            </a:pPr>
            <a:r>
              <a:t>  - Dự đoán log1p(SalePrice)</a:t>
            </a:r>
          </a:p>
          <a:p>
            <a:pPr>
              <a:defRPr sz="950">
                <a:solidFill>
                  <a:srgbClr val="2D3748"/>
                </a:solidFill>
              </a:defRPr>
            </a:pPr>
            <a:r>
              <a:t>  - Nghịch đảo biến đổi bằng expm1()</a:t>
            </a:r>
          </a:p>
          <a:p>
            <a:pPr>
              <a:defRPr sz="950">
                <a:solidFill>
                  <a:srgbClr val="2D3748"/>
                </a:solidFill>
              </a:defRPr>
            </a:pPr>
            <a:r>
              <a:t>• submission_sklearn.csv (Thành viên B):</a:t>
            </a:r>
          </a:p>
          <a:p>
            <a:pPr>
              <a:defRPr sz="950">
                <a:solidFill>
                  <a:srgbClr val="2D3748"/>
                </a:solidFill>
              </a:defRPr>
            </a:pPr>
            <a:r>
              <a:t>  - Mô hình Ensemble 4 thành phần</a:t>
            </a:r>
          </a:p>
          <a:p>
            <a:pPr>
              <a:defRPr sz="950">
                <a:solidFill>
                  <a:srgbClr val="2D3748"/>
                </a:solidFill>
              </a:defRPr>
            </a:pPr>
            <a:r>
              <a:t>  - CV5 RMSE: 0.1259</a:t>
            </a:r>
          </a:p>
          <a:p>
            <a:pPr>
              <a:defRPr sz="950">
                <a:solidFill>
                  <a:srgbClr val="2D3748"/>
                </a:solidFill>
              </a:defRPr>
            </a:pPr>
            <a:r>
              <a:t>  - Kaggle Public Score: 0.12573 (XUẤT SẮC)</a:t>
            </a:r>
          </a:p>
          <a:p>
            <a:pPr>
              <a:defRPr sz="950">
                <a:solidFill>
                  <a:srgbClr val="2D3748"/>
                </a:solidFill>
              </a:defRPr>
            </a:pPr>
            <a:r>
              <a:t>• submission_pytorch.csv (Thành viên C):</a:t>
            </a:r>
          </a:p>
          <a:p>
            <a:pPr>
              <a:defRPr sz="950">
                <a:solidFill>
                  <a:srgbClr val="2D3748"/>
                </a:solidFill>
              </a:defRPr>
            </a:pPr>
            <a:r>
              <a:t>  - Mô hình PyTorch HousePriceMLP tối ưu</a:t>
            </a:r>
          </a:p>
          <a:p>
            <a:pPr>
              <a:defRPr sz="950">
                <a:solidFill>
                  <a:srgbClr val="2D3748"/>
                </a:solidFill>
              </a:defRPr>
            </a:pPr>
            <a:r>
              <a:t>  - Val RMSE: 0.1252 | Val R²: 0.9123</a:t>
            </a:r>
          </a:p>
          <a:p>
            <a:pPr>
              <a:defRPr sz="950">
                <a:solidFill>
                  <a:srgbClr val="2D3748"/>
                </a:solidFill>
              </a:defRPr>
            </a:pPr>
            <a:r>
              <a:t>  - Kaggle Score ước tính: 0.12845</a:t>
            </a:r>
          </a:p>
          <a:p>
            <a:pPr>
              <a:defRPr sz="950">
                <a:solidFill>
                  <a:srgbClr val="2D3748"/>
                </a:solidFill>
              </a:defRPr>
            </a:pPr>
            <a:r>
              <a:t>• Đóng gói bài làm chuẩn:</a:t>
            </a:r>
          </a:p>
          <a:p>
            <a:pPr>
              <a:defRPr sz="950">
                <a:solidFill>
                  <a:srgbClr val="2D3748"/>
                </a:solidFill>
              </a:defRPr>
            </a:pPr>
            <a:r>
              <a:t>  - Báo cáo PDF có bìa, phân công, nội dung</a:t>
            </a:r>
          </a:p>
          <a:p>
            <a:pPr>
              <a:defRPr sz="950">
                <a:solidFill>
                  <a:srgbClr val="2D3748"/>
                </a:solidFill>
              </a:defRPr>
            </a:pPr>
            <a:r>
              <a:t>  - Pipeline Drawing PDF &amp; Experiment Log PDF</a:t>
            </a:r>
          </a:p>
          <a:p>
            <a:pPr>
              <a:defRPr sz="950">
                <a:solidFill>
                  <a:srgbClr val="2D3748"/>
                </a:solidFill>
              </a:defRPr>
            </a:pPr>
            <a:r>
              <a:t>  - Nén file: lab03_house_price_VuVietHoang_3123411108.zip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65760"/>
            <a:ext cx="11277295" cy="82296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b="1">
                <a:solidFill>
                  <a:srgbClr val="FFFFFF"/>
                </a:solidFill>
              </a:defRPr>
            </a:pPr>
            <a:r>
              <a:t>CHI TIẾT NHÁNH DEEP LEARNING: PYTORCH MULTI-LAYER PERCEPTRON (C)</a:t>
            </a:r>
          </a:p>
          <a:p>
            <a:pPr>
              <a:defRPr sz="1100">
                <a:solidFill>
                  <a:srgbClr val="FEEBE2"/>
                </a:solidFill>
              </a:defRPr>
            </a:pPr>
            <a:r>
              <a:t>Phụ trách: Thành viên C - Vũ Việt Hoàng (Nhóm trưởng) | Kiến trúc mạng 3 tầng, hàm mất mát MSELoss, Optimizer Adam</a:t>
            </a:r>
          </a:p>
        </p:txBody>
      </p:sp>
      <p:sp>
        <p:nvSpPr>
          <p:cNvPr id="3" name="Rounded Rectangle 2"/>
          <p:cNvSpPr/>
          <p:nvPr/>
        </p:nvSpPr>
        <p:spPr>
          <a:xfrm>
            <a:off x="457200" y="1371600"/>
            <a:ext cx="5303520" cy="5029200"/>
          </a:xfrm>
          <a:prstGeom prst="roundRect">
            <a:avLst/>
          </a:prstGeom>
          <a:solidFill>
            <a:srgbClr val="FEEBE2"/>
          </a:solidFill>
          <a:ln w="19050">
            <a:solidFill>
              <a:srgbClr val="DD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371600"/>
            <a:ext cx="5303520" cy="411480"/>
          </a:xfrm>
          <a:prstGeom prst="round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KIẾN TRÚC MẠNG HOUSEPRICEMLP (TORCH.NN.MODULE)</a:t>
            </a:r>
          </a:p>
        </p:txBody>
      </p:sp>
      <p:sp>
        <p:nvSpPr>
          <p:cNvPr id="5" name="TextBox 4"/>
          <p:cNvSpPr txBox="1"/>
          <p:nvPr/>
        </p:nvSpPr>
        <p:spPr>
          <a:xfrm>
            <a:off x="548640" y="1810512"/>
            <a:ext cx="5120640" cy="4572000"/>
          </a:xfrm>
          <a:prstGeom prst="rect">
            <a:avLst/>
          </a:prstGeom>
          <a:noFill/>
        </p:spPr>
        <p:txBody>
          <a:bodyPr wrap="square">
            <a:spAutoFit/>
          </a:bodyPr>
          <a:lstStyle/>
          <a:p>
            <a:pPr>
              <a:defRPr b="1" sz="1100">
                <a:solidFill>
                  <a:srgbClr val="DD6B20"/>
                </a:solidFill>
              </a:defRPr>
            </a:pPr>
            <a:r>
              <a:t>Mô hình Mạng Nơ-ron Lan truyền tiến (Feedforward MLP):</a:t>
            </a:r>
          </a:p>
          <a:p>
            <a:pPr>
              <a:defRPr sz="950">
                <a:solidFill>
                  <a:srgbClr val="2D3748"/>
                </a:solidFill>
              </a:defRPr>
            </a:pPr>
            <a:r>
              <a:t>• Input Dimension: 225 đặc trưng sau khi StandardScaler &amp; One-Hot Encoding</a:t>
            </a:r>
          </a:p>
          <a:p>
            <a:pPr>
              <a:defRPr sz="950">
                <a:solidFill>
                  <a:srgbClr val="2D3748"/>
                </a:solidFill>
              </a:defRPr>
            </a:pPr>
            <a:r>
              <a:t>• Tầng 1 (Hidden 1): Linear(225, 128)</a:t>
            </a:r>
          </a:p>
          <a:p>
            <a:pPr>
              <a:defRPr sz="950">
                <a:solidFill>
                  <a:srgbClr val="2D3748"/>
                </a:solidFill>
              </a:defRPr>
            </a:pPr>
            <a:r>
              <a:t>  - Hàm kích hoạt: ReLU() sinh tính phi tuyến</a:t>
            </a:r>
          </a:p>
          <a:p>
            <a:pPr>
              <a:defRPr sz="950">
                <a:solidFill>
                  <a:srgbClr val="2D3748"/>
                </a:solidFill>
              </a:defRPr>
            </a:pPr>
            <a:r>
              <a:t>  - Dropout(p=0.2): Chống hiện tượng quá khớp (Overfitting)</a:t>
            </a:r>
          </a:p>
          <a:p>
            <a:pPr>
              <a:defRPr sz="950">
                <a:solidFill>
                  <a:srgbClr val="2D3748"/>
                </a:solidFill>
              </a:defRPr>
            </a:pPr>
            <a:r>
              <a:t>• Tầng 2 (Hidden 2): Linear(128, 64)</a:t>
            </a:r>
          </a:p>
          <a:p>
            <a:pPr>
              <a:defRPr sz="950">
                <a:solidFill>
                  <a:srgbClr val="2D3748"/>
                </a:solidFill>
              </a:defRPr>
            </a:pPr>
            <a:r>
              <a:t>  - Hàm kích hoạt: ReLU()</a:t>
            </a:r>
          </a:p>
          <a:p>
            <a:pPr>
              <a:defRPr sz="950">
                <a:solidFill>
                  <a:srgbClr val="2D3748"/>
                </a:solidFill>
              </a:defRPr>
            </a:pPr>
            <a:r>
              <a:t>  - Dropout(p=0.2): Triệt tiêu ngẫu nhiên 20% nơ-ron</a:t>
            </a:r>
          </a:p>
          <a:p>
            <a:pPr>
              <a:defRPr sz="950">
                <a:solidFill>
                  <a:srgbClr val="2D3748"/>
                </a:solidFill>
              </a:defRPr>
            </a:pPr>
            <a:r>
              <a:t>• Tầng 3 (Output): Linear(64, 1)</a:t>
            </a:r>
          </a:p>
          <a:p>
            <a:pPr>
              <a:defRPr sz="950">
                <a:solidFill>
                  <a:srgbClr val="2D3748"/>
                </a:solidFill>
              </a:defRPr>
            </a:pPr>
            <a:r>
              <a:t>  - Dự đoán giá trị liên tục trên không gian chuẩn hóa</a:t>
            </a:r>
          </a:p>
          <a:p>
            <a:pPr>
              <a:defRPr sz="950">
                <a:solidFill>
                  <a:srgbClr val="2D3748"/>
                </a:solidFill>
              </a:defRPr>
            </a:pPr>
            <a:r>
              <a:t>• Tổng tham số: 37,121 tham số (100% có thể huấn luyện)</a:t>
            </a:r>
          </a:p>
          <a:p>
            <a:pPr>
              <a:defRPr sz="950">
                <a:solidFill>
                  <a:srgbClr val="2D3748"/>
                </a:solidFill>
              </a:defRPr>
            </a:pPr>
            <a:r>
              <a:t>• Tối ưu hóa &amp; Lập lịch học:</a:t>
            </a:r>
          </a:p>
          <a:p>
            <a:pPr>
              <a:defRPr sz="950">
                <a:solidFill>
                  <a:srgbClr val="2D3748"/>
                </a:solidFill>
              </a:defRPr>
            </a:pPr>
            <a:r>
              <a:t>  - Optimizer: Adam (Initial LR = 0.001, Weight Decay = 0.001)</a:t>
            </a:r>
          </a:p>
          <a:p>
            <a:pPr>
              <a:defRPr sz="950">
                <a:solidFill>
                  <a:srgbClr val="2D3748"/>
                </a:solidFill>
              </a:defRPr>
            </a:pPr>
            <a:r>
              <a:t>  - Scheduler: ReduceLROnPlateau (factor=0.5, patience=8, min_lr=1e-5)</a:t>
            </a:r>
          </a:p>
          <a:p>
            <a:pPr>
              <a:defRPr sz="950">
                <a:solidFill>
                  <a:srgbClr val="2D3748"/>
                </a:solidFill>
              </a:defRPr>
            </a:pPr>
            <a:r>
              <a:t>  - Batch Size: 32 (Train) / 64 (Val) | 120 Epochs | Thời gian chạy: ~7.3s trên GPU</a:t>
            </a:r>
          </a:p>
        </p:txBody>
      </p:sp>
      <p:sp>
        <p:nvSpPr>
          <p:cNvPr id="6" name="Rounded Rectangle 5"/>
          <p:cNvSpPr/>
          <p:nvPr/>
        </p:nvSpPr>
        <p:spPr>
          <a:xfrm>
            <a:off x="6035040" y="1371600"/>
            <a:ext cx="5699455" cy="5029200"/>
          </a:xfrm>
          <a:prstGeom prst="roundRect">
            <a:avLst/>
          </a:prstGeom>
          <a:solidFill>
            <a:srgbClr val="EBF8FF"/>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35040" y="1371600"/>
            <a:ext cx="5699455" cy="41148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KẾT QUẢ HUẤN LUYỆN &amp; PHÂN TÍCH ĐỐI CHỨNG (ABLATION)</a:t>
            </a:r>
          </a:p>
        </p:txBody>
      </p:sp>
      <p:sp>
        <p:nvSpPr>
          <p:cNvPr id="8" name="TextBox 7"/>
          <p:cNvSpPr txBox="1"/>
          <p:nvPr/>
        </p:nvSpPr>
        <p:spPr>
          <a:xfrm>
            <a:off x="6126480" y="1810512"/>
            <a:ext cx="5516575" cy="4572000"/>
          </a:xfrm>
          <a:prstGeom prst="rect">
            <a:avLst/>
          </a:prstGeom>
          <a:noFill/>
        </p:spPr>
        <p:txBody>
          <a:bodyPr wrap="square">
            <a:spAutoFit/>
          </a:bodyPr>
          <a:lstStyle/>
          <a:p>
            <a:pPr>
              <a:defRPr b="1" sz="1100">
                <a:solidFill>
                  <a:srgbClr val="2B6CB0"/>
                </a:solidFill>
              </a:defRPr>
            </a:pPr>
            <a:r>
              <a:t>1. Quá trình hội tụ &amp; Chỉ số kiểm định Validation:</a:t>
            </a:r>
          </a:p>
          <a:p>
            <a:pPr>
              <a:defRPr sz="950">
                <a:solidFill>
                  <a:srgbClr val="2D3748"/>
                </a:solidFill>
              </a:defRPr>
            </a:pPr>
            <a:r>
              <a:t>Train MSE Loss: Giảm ổn định từ 0.4427 (Epoch 1) → 0.0225 (Epoch 120)</a:t>
            </a:r>
          </a:p>
          <a:p>
            <a:pPr>
              <a:defRPr sz="950">
                <a:solidFill>
                  <a:srgbClr val="2D3748"/>
                </a:solidFill>
              </a:defRPr>
            </a:pPr>
            <a:r>
              <a:t>Validation RMSE: Đạt đỉnh tối ưu 0.1252 tại Epoch 30 (sau đó học ổn định nhờ ReduceLROnPlateau)</a:t>
            </a:r>
          </a:p>
          <a:p>
            <a:pPr>
              <a:defRPr sz="950">
                <a:solidFill>
                  <a:srgbClr val="2D3748"/>
                </a:solidFill>
              </a:defRPr>
            </a:pPr>
            <a:r>
              <a:t>Validation R²: 0.9123 | Validation MAE: 0.0902</a:t>
            </a:r>
          </a:p>
          <a:p>
            <a:pPr>
              <a:defRPr sz="950">
                <a:solidFill>
                  <a:srgbClr val="2D3748"/>
                </a:solidFill>
              </a:defRPr>
            </a:pPr>
          </a:p>
          <a:p>
            <a:pPr>
              <a:defRPr b="1" sz="1050">
                <a:solidFill>
                  <a:srgbClr val="1A365D"/>
                </a:solidFill>
              </a:defRPr>
            </a:pPr>
            <a:r>
              <a:t>2. THỰC NGHIỆM ĐỐI CHỨNG ĐẶC TRƯNG (TOP 50 VS 225):</a:t>
            </a:r>
          </a:p>
          <a:p>
            <a:pPr>
              <a:defRPr sz="950">
                <a:solidFill>
                  <a:srgbClr val="2D3748"/>
                </a:solidFill>
              </a:defRPr>
            </a:pPr>
            <a:r>
              <a:t>(Đính chính số liệu báo cáo theo ghi chú của Thành viên B)</a:t>
            </a:r>
          </a:p>
          <a:p>
            <a:pPr>
              <a:defRPr sz="950">
                <a:solidFill>
                  <a:srgbClr val="2D3748"/>
                </a:solidFill>
              </a:defRPr>
            </a:pPr>
            <a:r>
              <a:t>  • MLP trên toàn bộ 225 đặc trưng: Val RMSE = 0.1252 (Rất tốt)</a:t>
            </a:r>
          </a:p>
          <a:p>
            <a:pPr>
              <a:defRPr sz="950">
                <a:solidFill>
                  <a:srgbClr val="2D3748"/>
                </a:solidFill>
              </a:defRPr>
            </a:pPr>
            <a:r>
              <a:t>  • MLP trên Top 50 đặc trưng: Val RMSE = 0.5332 (Hiệu suất giảm mạnh)</a:t>
            </a:r>
          </a:p>
          <a:p>
            <a:pPr>
              <a:defRPr sz="950">
                <a:solidFill>
                  <a:srgbClr val="2D3748"/>
                </a:solidFill>
              </a:defRPr>
            </a:pPr>
            <a:r>
              <a:t>  • (Số liệu ghi nhận ban đầu khi chưa scale y: 0.2732 → 0.3588)</a:t>
            </a:r>
          </a:p>
          <a:p>
            <a:pPr>
              <a:defRPr sz="950">
                <a:solidFill>
                  <a:srgbClr val="2D3748"/>
                </a:solidFill>
              </a:defRPr>
            </a:pPr>
          </a:p>
          <a:p>
            <a:pPr>
              <a:defRPr b="1" sz="1050">
                <a:solidFill>
                  <a:srgbClr val="1A365D"/>
                </a:solidFill>
              </a:defRPr>
            </a:pPr>
            <a:r>
              <a:t>3. GIẢI THÍCH BẢN CHẤT HỌC SÂU TRÊN DỮ LIỆU DẠNG BẢNG (TABULAR):</a:t>
            </a:r>
          </a:p>
          <a:p>
            <a:pPr>
              <a:defRPr sz="950">
                <a:solidFill>
                  <a:srgbClr val="2D3748"/>
                </a:solidFill>
              </a:defRPr>
            </a:pPr>
            <a:r>
              <a:t>  • Các mô hình cây (GBR, Random Forest) phân nhánh độc lập theo từng đặc trưng riêng rẽ nên chọn Top 50 vẫn giữ được 90% hiệu năng.</a:t>
            </a:r>
          </a:p>
          <a:p>
            <a:pPr>
              <a:defRPr sz="950">
                <a:solidFill>
                  <a:srgbClr val="2D3748"/>
                </a:solidFill>
              </a:defRPr>
            </a:pPr>
            <a:r>
              <a:t>  • Mạng nơ-ron sâu (MLP) biểu diễn quan hệ phối hợp giữa các biến. Khi One-Hot biến các biến phân loại thành nhiều cột nhị phân thưa thớt, việc cắt giảm xuống Top 50 làm đứt gãy thông tin biểu diễn của các hạng mục, khiến mạng nơ-ron mất khả năng học quan hệ phức tạp!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65760"/>
            <a:ext cx="112772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b="1">
                <a:solidFill>
                  <a:srgbClr val="FFFFFF"/>
                </a:solidFill>
              </a:defRPr>
            </a:pPr>
            <a:r>
              <a:t>NHẬT KÝ THỰC NGHIỆM SO SÁNH: SCIKIT-LEARN VS PYTORCH MLP</a:t>
            </a:r>
          </a:p>
          <a:p>
            <a:pPr>
              <a:defRPr sz="1100">
                <a:solidFill>
                  <a:srgbClr val="CBD5E1"/>
                </a:solidFill>
              </a:defRPr>
            </a:pPr>
            <a:r>
              <a:t>Tổng hợp toàn bộ chỉ số thực nghiệm: Validation RMSE, MAE, R², 5-Fold Cross Validation và Kaggle Public Score</a:t>
            </a:r>
          </a:p>
        </p:txBody>
      </p:sp>
      <p:graphicFrame>
        <p:nvGraphicFramePr>
          <p:cNvPr id="3" name="Table 2"/>
          <p:cNvGraphicFramePr>
            <a:graphicFrameLocks noGrp="1"/>
          </p:cNvGraphicFramePr>
          <p:nvPr/>
        </p:nvGraphicFramePr>
        <p:xfrm>
          <a:off x="457200" y="1371600"/>
          <a:ext cx="11277295" cy="4937760"/>
        </p:xfrm>
        <a:graphic>
          <a:graphicData uri="http://schemas.openxmlformats.org/drawingml/2006/table">
            <a:tbl>
              <a:tblPr firstRow="1" bandRow="1">
                <a:tableStyleId>{5C22544A-7EE6-4342-B048-85BDC9FD1C3A}</a:tableStyleId>
              </a:tblPr>
              <a:tblGrid>
                <a:gridCol w="1645920"/>
                <a:gridCol w="2743200"/>
                <a:gridCol w="1280160"/>
                <a:gridCol w="1188720"/>
                <a:gridCol w="1188720"/>
                <a:gridCol w="1463040"/>
                <a:gridCol w="1767535"/>
              </a:tblGrid>
              <a:tr h="448887">
                <a:tc>
                  <a:txBody>
                    <a:bodyPr/>
                    <a:lstStyle/>
                    <a:p>
                      <a:pPr algn="ctr">
                        <a:defRPr b="1" sz="1050">
                          <a:solidFill>
                            <a:srgbClr val="FFFFFF"/>
                          </a:solidFill>
                        </a:defRPr>
                      </a:pPr>
                      <a:r>
                        <a:t>Nhóm phương pháp</a:t>
                      </a:r>
                    </a:p>
                  </a:txBody>
                  <a:tcPr>
                    <a:solidFill>
                      <a:srgbClr val="1A365D"/>
                    </a:solidFill>
                  </a:tcPr>
                </a:tc>
                <a:tc>
                  <a:txBody>
                    <a:bodyPr/>
                    <a:lstStyle/>
                    <a:p>
                      <a:pPr algn="ctr">
                        <a:defRPr b="1" sz="1050">
                          <a:solidFill>
                            <a:srgbClr val="FFFFFF"/>
                          </a:solidFill>
                        </a:defRPr>
                      </a:pPr>
                      <a:r>
                        <a:t>Tên mô hình / Phương pháp</a:t>
                      </a:r>
                    </a:p>
                  </a:txBody>
                  <a:tcPr>
                    <a:solidFill>
                      <a:srgbClr val="1A365D"/>
                    </a:solidFill>
                  </a:tcPr>
                </a:tc>
                <a:tc>
                  <a:txBody>
                    <a:bodyPr/>
                    <a:lstStyle/>
                    <a:p>
                      <a:pPr algn="ctr">
                        <a:defRPr b="1" sz="1050">
                          <a:solidFill>
                            <a:srgbClr val="FFFFFF"/>
                          </a:solidFill>
                        </a:defRPr>
                      </a:pPr>
                      <a:r>
                        <a:t>Val RMSE</a:t>
                      </a:r>
                    </a:p>
                  </a:txBody>
                  <a:tcPr>
                    <a:solidFill>
                      <a:srgbClr val="1A365D"/>
                    </a:solidFill>
                  </a:tcPr>
                </a:tc>
                <a:tc>
                  <a:txBody>
                    <a:bodyPr/>
                    <a:lstStyle/>
                    <a:p>
                      <a:pPr algn="ctr">
                        <a:defRPr b="1" sz="1050">
                          <a:solidFill>
                            <a:srgbClr val="FFFFFF"/>
                          </a:solidFill>
                        </a:defRPr>
                      </a:pPr>
                      <a:r>
                        <a:t>Val MAE</a:t>
                      </a:r>
                    </a:p>
                  </a:txBody>
                  <a:tcPr>
                    <a:solidFill>
                      <a:srgbClr val="1A365D"/>
                    </a:solidFill>
                  </a:tcPr>
                </a:tc>
                <a:tc>
                  <a:txBody>
                    <a:bodyPr/>
                    <a:lstStyle/>
                    <a:p>
                      <a:pPr algn="ctr">
                        <a:defRPr b="1" sz="1050">
                          <a:solidFill>
                            <a:srgbClr val="FFFFFF"/>
                          </a:solidFill>
                        </a:defRPr>
                      </a:pPr>
                      <a:r>
                        <a:t>Val R²</a:t>
                      </a:r>
                    </a:p>
                  </a:txBody>
                  <a:tcPr>
                    <a:solidFill>
                      <a:srgbClr val="1A365D"/>
                    </a:solidFill>
                  </a:tcPr>
                </a:tc>
                <a:tc>
                  <a:txBody>
                    <a:bodyPr/>
                    <a:lstStyle/>
                    <a:p>
                      <a:pPr algn="ctr">
                        <a:defRPr b="1" sz="1050">
                          <a:solidFill>
                            <a:srgbClr val="FFFFFF"/>
                          </a:solidFill>
                        </a:defRPr>
                      </a:pPr>
                      <a:r>
                        <a:t>CV 5-Fold RMSE</a:t>
                      </a:r>
                    </a:p>
                  </a:txBody>
                  <a:tcPr>
                    <a:solidFill>
                      <a:srgbClr val="1A365D"/>
                    </a:solidFill>
                  </a:tcPr>
                </a:tc>
                <a:tc>
                  <a:txBody>
                    <a:bodyPr/>
                    <a:lstStyle/>
                    <a:p>
                      <a:pPr algn="ctr">
                        <a:defRPr b="1" sz="1050">
                          <a:solidFill>
                            <a:srgbClr val="FFFFFF"/>
                          </a:solidFill>
                        </a:defRPr>
                      </a:pPr>
                      <a:r>
                        <a:t>Kaggle Score</a:t>
                      </a:r>
                    </a:p>
                  </a:txBody>
                  <a:tcPr>
                    <a:solidFill>
                      <a:srgbClr val="1A365D"/>
                    </a:solidFill>
                  </a:tcPr>
                </a:tc>
              </a:tr>
              <a:tr h="448887">
                <a:tc>
                  <a:txBody>
                    <a:bodyPr/>
                    <a:lstStyle/>
                    <a:p>
                      <a:pPr>
                        <a:defRPr sz="950">
                          <a:solidFill>
                            <a:srgbClr val="2D3748"/>
                          </a:solidFill>
                        </a:defRPr>
                      </a:pPr>
                      <a:r>
                        <a:t>Sklearn (Baseline)</a:t>
                      </a:r>
                    </a:p>
                  </a:txBody>
                  <a:tcPr>
                    <a:solidFill>
                      <a:srgbClr val="FFFFFF"/>
                    </a:solidFill>
                  </a:tcPr>
                </a:tc>
                <a:tc>
                  <a:txBody>
                    <a:bodyPr/>
                    <a:lstStyle/>
                    <a:p>
                      <a:pPr>
                        <a:defRPr sz="950">
                          <a:solidFill>
                            <a:srgbClr val="2D3748"/>
                          </a:solidFill>
                        </a:defRPr>
                      </a:pPr>
                      <a:r>
                        <a:t>Linear Regression</a:t>
                      </a:r>
                    </a:p>
                  </a:txBody>
                  <a:tcPr>
                    <a:solidFill>
                      <a:srgbClr val="FFFFFF"/>
                    </a:solidFill>
                  </a:tcPr>
                </a:tc>
                <a:tc>
                  <a:txBody>
                    <a:bodyPr/>
                    <a:lstStyle/>
                    <a:p>
                      <a:pPr algn="ctr">
                        <a:defRPr sz="950">
                          <a:solidFill>
                            <a:srgbClr val="2D3748"/>
                          </a:solidFill>
                        </a:defRPr>
                      </a:pPr>
                      <a:r>
                        <a:t>0.1220</a:t>
                      </a:r>
                    </a:p>
                  </a:txBody>
                  <a:tcPr>
                    <a:solidFill>
                      <a:srgbClr val="FFFFFF"/>
                    </a:solidFill>
                  </a:tcPr>
                </a:tc>
                <a:tc>
                  <a:txBody>
                    <a:bodyPr/>
                    <a:lstStyle/>
                    <a:p>
                      <a:pPr algn="ctr">
                        <a:defRPr sz="950">
                          <a:solidFill>
                            <a:srgbClr val="2D3748"/>
                          </a:solidFill>
                        </a:defRPr>
                      </a:pPr>
                      <a:r>
                        <a:t>0.0866</a:t>
                      </a:r>
                    </a:p>
                  </a:txBody>
                  <a:tcPr>
                    <a:solidFill>
                      <a:srgbClr val="FFFFFF"/>
                    </a:solidFill>
                  </a:tcPr>
                </a:tc>
                <a:tc>
                  <a:txBody>
                    <a:bodyPr/>
                    <a:lstStyle/>
                    <a:p>
                      <a:pPr algn="ctr">
                        <a:defRPr sz="950">
                          <a:solidFill>
                            <a:srgbClr val="2D3748"/>
                          </a:solidFill>
                        </a:defRPr>
                      </a:pPr>
                      <a:r>
                        <a:t>0.9202</a:t>
                      </a:r>
                    </a:p>
                  </a:txBody>
                  <a:tcPr>
                    <a:solidFill>
                      <a:srgbClr val="FFFFFF"/>
                    </a:solidFill>
                  </a:tcPr>
                </a:tc>
                <a:tc>
                  <a:txBody>
                    <a:bodyPr/>
                    <a:lstStyle/>
                    <a:p>
                      <a:pPr algn="ctr">
                        <a:defRPr sz="950">
                          <a:solidFill>
                            <a:srgbClr val="2D3748"/>
                          </a:solidFill>
                        </a:defRPr>
                      </a:pPr>
                      <a:r>
                        <a:t>–</a:t>
                      </a:r>
                    </a:p>
                  </a:txBody>
                  <a:tcPr>
                    <a:solidFill>
                      <a:srgbClr val="FFFFFF"/>
                    </a:solidFill>
                  </a:tcPr>
                </a:tc>
                <a:tc>
                  <a:txBody>
                    <a:bodyPr/>
                    <a:lstStyle/>
                    <a:p>
                      <a:pPr algn="ctr">
                        <a:defRPr sz="950">
                          <a:solidFill>
                            <a:srgbClr val="2D3748"/>
                          </a:solidFill>
                        </a:defRPr>
                      </a:pPr>
                      <a:r>
                        <a:t>–</a:t>
                      </a:r>
                    </a:p>
                  </a:txBody>
                  <a:tcPr>
                    <a:solidFill>
                      <a:srgbClr val="FFFFFF"/>
                    </a:solidFill>
                  </a:tcPr>
                </a:tc>
              </a:tr>
              <a:tr h="448887">
                <a:tc>
                  <a:txBody>
                    <a:bodyPr/>
                    <a:lstStyle/>
                    <a:p>
                      <a:pPr>
                        <a:defRPr sz="950">
                          <a:solidFill>
                            <a:srgbClr val="2D3748"/>
                          </a:solidFill>
                        </a:defRPr>
                      </a:pPr>
                      <a:r>
                        <a:t>Sklearn (Baseline)</a:t>
                      </a:r>
                    </a:p>
                  </a:txBody>
                  <a:tcPr>
                    <a:solidFill>
                      <a:srgbClr val="F8FAFC"/>
                    </a:solidFill>
                  </a:tcPr>
                </a:tc>
                <a:tc>
                  <a:txBody>
                    <a:bodyPr/>
                    <a:lstStyle/>
                    <a:p>
                      <a:pPr>
                        <a:defRPr sz="950">
                          <a:solidFill>
                            <a:srgbClr val="2D3748"/>
                          </a:solidFill>
                        </a:defRPr>
                      </a:pPr>
                      <a:r>
                        <a:t>Ridge Regression (alpha=10)</a:t>
                      </a:r>
                    </a:p>
                  </a:txBody>
                  <a:tcPr>
                    <a:solidFill>
                      <a:srgbClr val="F8FAFC"/>
                    </a:solidFill>
                  </a:tcPr>
                </a:tc>
                <a:tc>
                  <a:txBody>
                    <a:bodyPr/>
                    <a:lstStyle/>
                    <a:p>
                      <a:pPr algn="ctr">
                        <a:defRPr sz="950">
                          <a:solidFill>
                            <a:srgbClr val="2D3748"/>
                          </a:solidFill>
                        </a:defRPr>
                      </a:pPr>
                      <a:r>
                        <a:t>0.1218</a:t>
                      </a:r>
                    </a:p>
                  </a:txBody>
                  <a:tcPr>
                    <a:solidFill>
                      <a:srgbClr val="F8FAFC"/>
                    </a:solidFill>
                  </a:tcPr>
                </a:tc>
                <a:tc>
                  <a:txBody>
                    <a:bodyPr/>
                    <a:lstStyle/>
                    <a:p>
                      <a:pPr algn="ctr">
                        <a:defRPr sz="950">
                          <a:solidFill>
                            <a:srgbClr val="2D3748"/>
                          </a:solidFill>
                        </a:defRPr>
                      </a:pPr>
                      <a:r>
                        <a:t>0.0864</a:t>
                      </a:r>
                    </a:p>
                  </a:txBody>
                  <a:tcPr>
                    <a:solidFill>
                      <a:srgbClr val="F8FAFC"/>
                    </a:solidFill>
                  </a:tcPr>
                </a:tc>
                <a:tc>
                  <a:txBody>
                    <a:bodyPr/>
                    <a:lstStyle/>
                    <a:p>
                      <a:pPr algn="ctr">
                        <a:defRPr sz="950">
                          <a:solidFill>
                            <a:srgbClr val="2D3748"/>
                          </a:solidFill>
                        </a:defRPr>
                      </a:pPr>
                      <a:r>
                        <a:t>0.9205</a:t>
                      </a:r>
                    </a:p>
                  </a:txBody>
                  <a:tcPr>
                    <a:solidFill>
                      <a:srgbClr val="F8FAFC"/>
                    </a:solidFill>
                  </a:tcPr>
                </a:tc>
                <a:tc>
                  <a:txBody>
                    <a:bodyPr/>
                    <a:lstStyle/>
                    <a:p>
                      <a:pPr algn="ctr">
                        <a:defRPr sz="950">
                          <a:solidFill>
                            <a:srgbClr val="2D3748"/>
                          </a:solidFill>
                        </a:defRPr>
                      </a:pPr>
                      <a:r>
                        <a:t>–</a:t>
                      </a:r>
                    </a:p>
                  </a:txBody>
                  <a:tcPr>
                    <a:solidFill>
                      <a:srgbClr val="F8FAFC"/>
                    </a:solidFill>
                  </a:tcPr>
                </a:tc>
                <a:tc>
                  <a:txBody>
                    <a:bodyPr/>
                    <a:lstStyle/>
                    <a:p>
                      <a:pPr algn="ctr">
                        <a:defRPr sz="950">
                          <a:solidFill>
                            <a:srgbClr val="2D3748"/>
                          </a:solidFill>
                        </a:defRPr>
                      </a:pPr>
                      <a:r>
                        <a:t>–</a:t>
                      </a:r>
                    </a:p>
                  </a:txBody>
                  <a:tcPr>
                    <a:solidFill>
                      <a:srgbClr val="F8FAFC"/>
                    </a:solidFill>
                  </a:tcPr>
                </a:tc>
              </a:tr>
              <a:tr h="448887">
                <a:tc>
                  <a:txBody>
                    <a:bodyPr/>
                    <a:lstStyle/>
                    <a:p>
                      <a:pPr>
                        <a:defRPr sz="950">
                          <a:solidFill>
                            <a:srgbClr val="2D3748"/>
                          </a:solidFill>
                        </a:defRPr>
                      </a:pPr>
                      <a:r>
                        <a:t>Sklearn (Baseline)</a:t>
                      </a:r>
                    </a:p>
                  </a:txBody>
                  <a:tcPr>
                    <a:solidFill>
                      <a:srgbClr val="FFFFFF"/>
                    </a:solidFill>
                  </a:tcPr>
                </a:tc>
                <a:tc>
                  <a:txBody>
                    <a:bodyPr/>
                    <a:lstStyle/>
                    <a:p>
                      <a:pPr>
                        <a:defRPr sz="950">
                          <a:solidFill>
                            <a:srgbClr val="2D3748"/>
                          </a:solidFill>
                        </a:defRPr>
                      </a:pPr>
                      <a:r>
                        <a:t>Lasso (alpha=0.001)</a:t>
                      </a:r>
                    </a:p>
                  </a:txBody>
                  <a:tcPr>
                    <a:solidFill>
                      <a:srgbClr val="FFFFFF"/>
                    </a:solidFill>
                  </a:tcPr>
                </a:tc>
                <a:tc>
                  <a:txBody>
                    <a:bodyPr/>
                    <a:lstStyle/>
                    <a:p>
                      <a:pPr algn="ctr">
                        <a:defRPr sz="950">
                          <a:solidFill>
                            <a:srgbClr val="2D3748"/>
                          </a:solidFill>
                        </a:defRPr>
                      </a:pPr>
                      <a:r>
                        <a:t>0.1194</a:t>
                      </a:r>
                    </a:p>
                  </a:txBody>
                  <a:tcPr>
                    <a:solidFill>
                      <a:srgbClr val="FFFFFF"/>
                    </a:solidFill>
                  </a:tcPr>
                </a:tc>
                <a:tc>
                  <a:txBody>
                    <a:bodyPr/>
                    <a:lstStyle/>
                    <a:p>
                      <a:pPr algn="ctr">
                        <a:defRPr sz="950">
                          <a:solidFill>
                            <a:srgbClr val="2D3748"/>
                          </a:solidFill>
                        </a:defRPr>
                      </a:pPr>
                      <a:r>
                        <a:t>0.0841</a:t>
                      </a:r>
                    </a:p>
                  </a:txBody>
                  <a:tcPr>
                    <a:solidFill>
                      <a:srgbClr val="FFFFFF"/>
                    </a:solidFill>
                  </a:tcPr>
                </a:tc>
                <a:tc>
                  <a:txBody>
                    <a:bodyPr/>
                    <a:lstStyle/>
                    <a:p>
                      <a:pPr algn="ctr">
                        <a:defRPr sz="950">
                          <a:solidFill>
                            <a:srgbClr val="2D3748"/>
                          </a:solidFill>
                        </a:defRPr>
                      </a:pPr>
                      <a:r>
                        <a:t>0.9236</a:t>
                      </a:r>
                    </a:p>
                  </a:txBody>
                  <a:tcPr>
                    <a:solidFill>
                      <a:srgbClr val="FFFFFF"/>
                    </a:solidFill>
                  </a:tcPr>
                </a:tc>
                <a:tc>
                  <a:txBody>
                    <a:bodyPr/>
                    <a:lstStyle/>
                    <a:p>
                      <a:pPr algn="ctr">
                        <a:defRPr sz="950">
                          <a:solidFill>
                            <a:srgbClr val="2D3748"/>
                          </a:solidFill>
                        </a:defRPr>
                      </a:pPr>
                      <a:r>
                        <a:t>–</a:t>
                      </a:r>
                    </a:p>
                  </a:txBody>
                  <a:tcPr>
                    <a:solidFill>
                      <a:srgbClr val="FFFFFF"/>
                    </a:solidFill>
                  </a:tcPr>
                </a:tc>
                <a:tc>
                  <a:txBody>
                    <a:bodyPr/>
                    <a:lstStyle/>
                    <a:p>
                      <a:pPr algn="ctr">
                        <a:defRPr sz="950">
                          <a:solidFill>
                            <a:srgbClr val="2D3748"/>
                          </a:solidFill>
                        </a:defRPr>
                      </a:pPr>
                      <a:r>
                        <a:t>–</a:t>
                      </a:r>
                    </a:p>
                  </a:txBody>
                  <a:tcPr>
                    <a:solidFill>
                      <a:srgbClr val="FFFFFF"/>
                    </a:solidFill>
                  </a:tcPr>
                </a:tc>
              </a:tr>
              <a:tr h="448887">
                <a:tc>
                  <a:txBody>
                    <a:bodyPr/>
                    <a:lstStyle/>
                    <a:p>
                      <a:pPr>
                        <a:defRPr sz="950">
                          <a:solidFill>
                            <a:srgbClr val="2D3748"/>
                          </a:solidFill>
                        </a:defRPr>
                      </a:pPr>
                      <a:r>
                        <a:t>Sklearn (Baseline)</a:t>
                      </a:r>
                    </a:p>
                  </a:txBody>
                  <a:tcPr>
                    <a:solidFill>
                      <a:srgbClr val="F8FAFC"/>
                    </a:solidFill>
                  </a:tcPr>
                </a:tc>
                <a:tc>
                  <a:txBody>
                    <a:bodyPr/>
                    <a:lstStyle/>
                    <a:p>
                      <a:pPr>
                        <a:defRPr sz="950">
                          <a:solidFill>
                            <a:srgbClr val="2D3748"/>
                          </a:solidFill>
                        </a:defRPr>
                      </a:pPr>
                      <a:r>
                        <a:t>Random Forest (300 cây)</a:t>
                      </a:r>
                    </a:p>
                  </a:txBody>
                  <a:tcPr>
                    <a:solidFill>
                      <a:srgbClr val="F8FAFC"/>
                    </a:solidFill>
                  </a:tcPr>
                </a:tc>
                <a:tc>
                  <a:txBody>
                    <a:bodyPr/>
                    <a:lstStyle/>
                    <a:p>
                      <a:pPr algn="ctr">
                        <a:defRPr sz="950">
                          <a:solidFill>
                            <a:srgbClr val="2D3748"/>
                          </a:solidFill>
                        </a:defRPr>
                      </a:pPr>
                      <a:r>
                        <a:t>0.1458</a:t>
                      </a:r>
                    </a:p>
                  </a:txBody>
                  <a:tcPr>
                    <a:solidFill>
                      <a:srgbClr val="F8FAFC"/>
                    </a:solidFill>
                  </a:tcPr>
                </a:tc>
                <a:tc>
                  <a:txBody>
                    <a:bodyPr/>
                    <a:lstStyle/>
                    <a:p>
                      <a:pPr algn="ctr">
                        <a:defRPr sz="950">
                          <a:solidFill>
                            <a:srgbClr val="2D3748"/>
                          </a:solidFill>
                        </a:defRPr>
                      </a:pPr>
                      <a:r>
                        <a:t>0.0944</a:t>
                      </a:r>
                    </a:p>
                  </a:txBody>
                  <a:tcPr>
                    <a:solidFill>
                      <a:srgbClr val="F8FAFC"/>
                    </a:solidFill>
                  </a:tcPr>
                </a:tc>
                <a:tc>
                  <a:txBody>
                    <a:bodyPr/>
                    <a:lstStyle/>
                    <a:p>
                      <a:pPr algn="ctr">
                        <a:defRPr sz="950">
                          <a:solidFill>
                            <a:srgbClr val="2D3748"/>
                          </a:solidFill>
                        </a:defRPr>
                      </a:pPr>
                      <a:r>
                        <a:t>0.8861</a:t>
                      </a:r>
                    </a:p>
                  </a:txBody>
                  <a:tcPr>
                    <a:solidFill>
                      <a:srgbClr val="F8FAFC"/>
                    </a:solidFill>
                  </a:tcPr>
                </a:tc>
                <a:tc>
                  <a:txBody>
                    <a:bodyPr/>
                    <a:lstStyle/>
                    <a:p>
                      <a:pPr algn="ctr">
                        <a:defRPr sz="950">
                          <a:solidFill>
                            <a:srgbClr val="2D3748"/>
                          </a:solidFill>
                        </a:defRPr>
                      </a:pPr>
                      <a:r>
                        <a:t>–</a:t>
                      </a:r>
                    </a:p>
                  </a:txBody>
                  <a:tcPr>
                    <a:solidFill>
                      <a:srgbClr val="F8FAFC"/>
                    </a:solidFill>
                  </a:tcPr>
                </a:tc>
                <a:tc>
                  <a:txBody>
                    <a:bodyPr/>
                    <a:lstStyle/>
                    <a:p>
                      <a:pPr algn="ctr">
                        <a:defRPr sz="950">
                          <a:solidFill>
                            <a:srgbClr val="2D3748"/>
                          </a:solidFill>
                        </a:defRPr>
                      </a:pPr>
                      <a:r>
                        <a:t>–</a:t>
                      </a:r>
                    </a:p>
                  </a:txBody>
                  <a:tcPr>
                    <a:solidFill>
                      <a:srgbClr val="F8FAFC"/>
                    </a:solidFill>
                  </a:tcPr>
                </a:tc>
              </a:tr>
              <a:tr h="448887">
                <a:tc>
                  <a:txBody>
                    <a:bodyPr/>
                    <a:lstStyle/>
                    <a:p>
                      <a:pPr>
                        <a:defRPr sz="950">
                          <a:solidFill>
                            <a:srgbClr val="2D3748"/>
                          </a:solidFill>
                        </a:defRPr>
                      </a:pPr>
                      <a:r>
                        <a:t>Sklearn (Tuned)</a:t>
                      </a:r>
                    </a:p>
                  </a:txBody>
                  <a:tcPr>
                    <a:solidFill>
                      <a:srgbClr val="FFFFFF"/>
                    </a:solidFill>
                  </a:tcPr>
                </a:tc>
                <a:tc>
                  <a:txBody>
                    <a:bodyPr/>
                    <a:lstStyle/>
                    <a:p>
                      <a:pPr>
                        <a:defRPr sz="950">
                          <a:solidFill>
                            <a:srgbClr val="2D3748"/>
                          </a:solidFill>
                        </a:defRPr>
                      </a:pPr>
                      <a:r>
                        <a:t>Ridge (alpha=300)</a:t>
                      </a:r>
                    </a:p>
                  </a:txBody>
                  <a:tcPr>
                    <a:solidFill>
                      <a:srgbClr val="FFFFFF"/>
                    </a:solidFill>
                  </a:tcPr>
                </a:tc>
                <a:tc>
                  <a:txBody>
                    <a:bodyPr/>
                    <a:lstStyle/>
                    <a:p>
                      <a:pPr algn="ctr">
                        <a:defRPr sz="950">
                          <a:solidFill>
                            <a:srgbClr val="2D3748"/>
                          </a:solidFill>
                        </a:defRPr>
                      </a:pPr>
                      <a:r>
                        <a:t>0.1245</a:t>
                      </a:r>
                    </a:p>
                  </a:txBody>
                  <a:tcPr>
                    <a:solidFill>
                      <a:srgbClr val="FFFFFF"/>
                    </a:solidFill>
                  </a:tcPr>
                </a:tc>
                <a:tc>
                  <a:txBody>
                    <a:bodyPr/>
                    <a:lstStyle/>
                    <a:p>
                      <a:pPr algn="ctr">
                        <a:defRPr sz="950">
                          <a:solidFill>
                            <a:srgbClr val="2D3748"/>
                          </a:solidFill>
                        </a:defRPr>
                      </a:pPr>
                      <a:r>
                        <a:t>0.0875</a:t>
                      </a:r>
                    </a:p>
                  </a:txBody>
                  <a:tcPr>
                    <a:solidFill>
                      <a:srgbClr val="FFFFFF"/>
                    </a:solidFill>
                  </a:tcPr>
                </a:tc>
                <a:tc>
                  <a:txBody>
                    <a:bodyPr/>
                    <a:lstStyle/>
                    <a:p>
                      <a:pPr algn="ctr">
                        <a:defRPr sz="950">
                          <a:solidFill>
                            <a:srgbClr val="2D3748"/>
                          </a:solidFill>
                        </a:defRPr>
                      </a:pPr>
                      <a:r>
                        <a:t>0.9170</a:t>
                      </a:r>
                    </a:p>
                  </a:txBody>
                  <a:tcPr>
                    <a:solidFill>
                      <a:srgbClr val="FFFFFF"/>
                    </a:solidFill>
                  </a:tcPr>
                </a:tc>
                <a:tc>
                  <a:txBody>
                    <a:bodyPr/>
                    <a:lstStyle/>
                    <a:p>
                      <a:pPr algn="ctr">
                        <a:defRPr sz="950">
                          <a:solidFill>
                            <a:srgbClr val="2D3748"/>
                          </a:solidFill>
                        </a:defRPr>
                      </a:pPr>
                      <a:r>
                        <a:t>0.1387 ± 0.043</a:t>
                      </a:r>
                    </a:p>
                  </a:txBody>
                  <a:tcPr>
                    <a:solidFill>
                      <a:srgbClr val="FFFFFF"/>
                    </a:solidFill>
                  </a:tcPr>
                </a:tc>
                <a:tc>
                  <a:txBody>
                    <a:bodyPr/>
                    <a:lstStyle/>
                    <a:p>
                      <a:pPr algn="ctr">
                        <a:defRPr sz="950">
                          <a:solidFill>
                            <a:srgbClr val="2D3748"/>
                          </a:solidFill>
                        </a:defRPr>
                      </a:pPr>
                      <a:r>
                        <a:t>–</a:t>
                      </a:r>
                    </a:p>
                  </a:txBody>
                  <a:tcPr>
                    <a:solidFill>
                      <a:srgbClr val="FFFFFF"/>
                    </a:solidFill>
                  </a:tcPr>
                </a:tc>
              </a:tr>
              <a:tr h="448887">
                <a:tc>
                  <a:txBody>
                    <a:bodyPr/>
                    <a:lstStyle/>
                    <a:p>
                      <a:pPr>
                        <a:defRPr sz="950">
                          <a:solidFill>
                            <a:srgbClr val="2D3748"/>
                          </a:solidFill>
                        </a:defRPr>
                      </a:pPr>
                      <a:r>
                        <a:t>Sklearn (Tuned)</a:t>
                      </a:r>
                    </a:p>
                  </a:txBody>
                  <a:tcPr>
                    <a:solidFill>
                      <a:srgbClr val="F8FAFC"/>
                    </a:solidFill>
                  </a:tcPr>
                </a:tc>
                <a:tc>
                  <a:txBody>
                    <a:bodyPr/>
                    <a:lstStyle/>
                    <a:p>
                      <a:pPr>
                        <a:defRPr sz="950">
                          <a:solidFill>
                            <a:srgbClr val="2D3748"/>
                          </a:solidFill>
                        </a:defRPr>
                      </a:pPr>
                      <a:r>
                        <a:t>ElasticNet (a=0.002, l1=0.8)</a:t>
                      </a:r>
                    </a:p>
                  </a:txBody>
                  <a:tcPr>
                    <a:solidFill>
                      <a:srgbClr val="F8FAFC"/>
                    </a:solidFill>
                  </a:tcPr>
                </a:tc>
                <a:tc>
                  <a:txBody>
                    <a:bodyPr/>
                    <a:lstStyle/>
                    <a:p>
                      <a:pPr algn="ctr">
                        <a:defRPr sz="950">
                          <a:solidFill>
                            <a:srgbClr val="2D3748"/>
                          </a:solidFill>
                        </a:defRPr>
                      </a:pPr>
                      <a:r>
                        <a:t>0.1193</a:t>
                      </a:r>
                    </a:p>
                  </a:txBody>
                  <a:tcPr>
                    <a:solidFill>
                      <a:srgbClr val="F8FAFC"/>
                    </a:solidFill>
                  </a:tcPr>
                </a:tc>
                <a:tc>
                  <a:txBody>
                    <a:bodyPr/>
                    <a:lstStyle/>
                    <a:p>
                      <a:pPr algn="ctr">
                        <a:defRPr sz="950">
                          <a:solidFill>
                            <a:srgbClr val="2D3748"/>
                          </a:solidFill>
                        </a:defRPr>
                      </a:pPr>
                      <a:r>
                        <a:t>0.0840</a:t>
                      </a:r>
                    </a:p>
                  </a:txBody>
                  <a:tcPr>
                    <a:solidFill>
                      <a:srgbClr val="F8FAFC"/>
                    </a:solidFill>
                  </a:tcPr>
                </a:tc>
                <a:tc>
                  <a:txBody>
                    <a:bodyPr/>
                    <a:lstStyle/>
                    <a:p>
                      <a:pPr algn="ctr">
                        <a:defRPr sz="950">
                          <a:solidFill>
                            <a:srgbClr val="2D3748"/>
                          </a:solidFill>
                        </a:defRPr>
                      </a:pPr>
                      <a:r>
                        <a:t>0.9238</a:t>
                      </a:r>
                    </a:p>
                  </a:txBody>
                  <a:tcPr>
                    <a:solidFill>
                      <a:srgbClr val="F8FAFC"/>
                    </a:solidFill>
                  </a:tcPr>
                </a:tc>
                <a:tc>
                  <a:txBody>
                    <a:bodyPr/>
                    <a:lstStyle/>
                    <a:p>
                      <a:pPr algn="ctr">
                        <a:defRPr sz="950">
                          <a:solidFill>
                            <a:srgbClr val="2D3748"/>
                          </a:solidFill>
                        </a:defRPr>
                      </a:pPr>
                      <a:r>
                        <a:t>0.1412 ± 0.050</a:t>
                      </a:r>
                    </a:p>
                  </a:txBody>
                  <a:tcPr>
                    <a:solidFill>
                      <a:srgbClr val="F8FAFC"/>
                    </a:solidFill>
                  </a:tcPr>
                </a:tc>
                <a:tc>
                  <a:txBody>
                    <a:bodyPr/>
                    <a:lstStyle/>
                    <a:p>
                      <a:pPr algn="ctr">
                        <a:defRPr sz="950">
                          <a:solidFill>
                            <a:srgbClr val="2D3748"/>
                          </a:solidFill>
                        </a:defRPr>
                      </a:pPr>
                      <a:r>
                        <a:t>–</a:t>
                      </a:r>
                    </a:p>
                  </a:txBody>
                  <a:tcPr>
                    <a:solidFill>
                      <a:srgbClr val="F8FAFC"/>
                    </a:solidFill>
                  </a:tcPr>
                </a:tc>
              </a:tr>
              <a:tr h="448887">
                <a:tc>
                  <a:txBody>
                    <a:bodyPr/>
                    <a:lstStyle/>
                    <a:p>
                      <a:pPr>
                        <a:defRPr sz="950">
                          <a:solidFill>
                            <a:srgbClr val="2D3748"/>
                          </a:solidFill>
                        </a:defRPr>
                      </a:pPr>
                      <a:r>
                        <a:t>Sklearn (Tuned)</a:t>
                      </a:r>
                    </a:p>
                  </a:txBody>
                  <a:tcPr>
                    <a:solidFill>
                      <a:srgbClr val="FFFFFF"/>
                    </a:solidFill>
                  </a:tcPr>
                </a:tc>
                <a:tc>
                  <a:txBody>
                    <a:bodyPr/>
                    <a:lstStyle/>
                    <a:p>
                      <a:pPr>
                        <a:defRPr sz="950">
                          <a:solidFill>
                            <a:srgbClr val="2D3748"/>
                          </a:solidFill>
                        </a:defRPr>
                      </a:pPr>
                      <a:r>
                        <a:t>Gradient Boosting (489 cây)</a:t>
                      </a:r>
                    </a:p>
                  </a:txBody>
                  <a:tcPr>
                    <a:solidFill>
                      <a:srgbClr val="FFFFFF"/>
                    </a:solidFill>
                  </a:tcPr>
                </a:tc>
                <a:tc>
                  <a:txBody>
                    <a:bodyPr/>
                    <a:lstStyle/>
                    <a:p>
                      <a:pPr algn="ctr">
                        <a:defRPr sz="950">
                          <a:solidFill>
                            <a:srgbClr val="2D3748"/>
                          </a:solidFill>
                        </a:defRPr>
                      </a:pPr>
                      <a:r>
                        <a:t>0.1365</a:t>
                      </a:r>
                    </a:p>
                  </a:txBody>
                  <a:tcPr>
                    <a:solidFill>
                      <a:srgbClr val="FFFFFF"/>
                    </a:solidFill>
                  </a:tcPr>
                </a:tc>
                <a:tc>
                  <a:txBody>
                    <a:bodyPr/>
                    <a:lstStyle/>
                    <a:p>
                      <a:pPr algn="ctr">
                        <a:defRPr sz="950">
                          <a:solidFill>
                            <a:srgbClr val="2D3748"/>
                          </a:solidFill>
                        </a:defRPr>
                      </a:pPr>
                      <a:r>
                        <a:t>0.0898</a:t>
                      </a:r>
                    </a:p>
                  </a:txBody>
                  <a:tcPr>
                    <a:solidFill>
                      <a:srgbClr val="FFFFFF"/>
                    </a:solidFill>
                  </a:tcPr>
                </a:tc>
                <a:tc>
                  <a:txBody>
                    <a:bodyPr/>
                    <a:lstStyle/>
                    <a:p>
                      <a:pPr algn="ctr">
                        <a:defRPr sz="950">
                          <a:solidFill>
                            <a:srgbClr val="2D3748"/>
                          </a:solidFill>
                        </a:defRPr>
                      </a:pPr>
                      <a:r>
                        <a:t>0.9002</a:t>
                      </a:r>
                    </a:p>
                  </a:txBody>
                  <a:tcPr>
                    <a:solidFill>
                      <a:srgbClr val="FFFFFF"/>
                    </a:solidFill>
                  </a:tcPr>
                </a:tc>
                <a:tc>
                  <a:txBody>
                    <a:bodyPr/>
                    <a:lstStyle/>
                    <a:p>
                      <a:pPr algn="ctr">
                        <a:defRPr sz="950">
                          <a:solidFill>
                            <a:srgbClr val="2D3748"/>
                          </a:solidFill>
                        </a:defRPr>
                      </a:pPr>
                      <a:r>
                        <a:t>0.1269 ± 0.024</a:t>
                      </a:r>
                    </a:p>
                  </a:txBody>
                  <a:tcPr>
                    <a:solidFill>
                      <a:srgbClr val="FFFFFF"/>
                    </a:solidFill>
                  </a:tcPr>
                </a:tc>
                <a:tc>
                  <a:txBody>
                    <a:bodyPr/>
                    <a:lstStyle/>
                    <a:p>
                      <a:pPr algn="ctr">
                        <a:defRPr sz="950">
                          <a:solidFill>
                            <a:srgbClr val="2D3748"/>
                          </a:solidFill>
                        </a:defRPr>
                      </a:pPr>
                      <a:r>
                        <a:t>–</a:t>
                      </a:r>
                    </a:p>
                  </a:txBody>
                  <a:tcPr>
                    <a:solidFill>
                      <a:srgbClr val="FFFFFF"/>
                    </a:solidFill>
                  </a:tcPr>
                </a:tc>
              </a:tr>
              <a:tr h="448887">
                <a:tc>
                  <a:txBody>
                    <a:bodyPr/>
                    <a:lstStyle/>
                    <a:p>
                      <a:pPr>
                        <a:defRPr sz="950">
                          <a:solidFill>
                            <a:srgbClr val="2D3748"/>
                          </a:solidFill>
                        </a:defRPr>
                      </a:pPr>
                      <a:r>
                        <a:t>Sklearn (Tuned)</a:t>
                      </a:r>
                    </a:p>
                  </a:txBody>
                  <a:tcPr>
                    <a:solidFill>
                      <a:srgbClr val="F8FAFC"/>
                    </a:solidFill>
                  </a:tcPr>
                </a:tc>
                <a:tc>
                  <a:txBody>
                    <a:bodyPr/>
                    <a:lstStyle/>
                    <a:p>
                      <a:pPr>
                        <a:defRPr sz="950">
                          <a:solidFill>
                            <a:srgbClr val="2D3748"/>
                          </a:solidFill>
                        </a:defRPr>
                      </a:pPr>
                      <a:r>
                        <a:t>HistGradientBoosting (595 iter)</a:t>
                      </a:r>
                    </a:p>
                  </a:txBody>
                  <a:tcPr>
                    <a:solidFill>
                      <a:srgbClr val="F8FAFC"/>
                    </a:solidFill>
                  </a:tcPr>
                </a:tc>
                <a:tc>
                  <a:txBody>
                    <a:bodyPr/>
                    <a:lstStyle/>
                    <a:p>
                      <a:pPr algn="ctr">
                        <a:defRPr sz="950">
                          <a:solidFill>
                            <a:srgbClr val="2D3748"/>
                          </a:solidFill>
                        </a:defRPr>
                      </a:pPr>
                      <a:r>
                        <a:t>0.1405</a:t>
                      </a:r>
                    </a:p>
                  </a:txBody>
                  <a:tcPr>
                    <a:solidFill>
                      <a:srgbClr val="F8FAFC"/>
                    </a:solidFill>
                  </a:tcPr>
                </a:tc>
                <a:tc>
                  <a:txBody>
                    <a:bodyPr/>
                    <a:lstStyle/>
                    <a:p>
                      <a:pPr algn="ctr">
                        <a:defRPr sz="950">
                          <a:solidFill>
                            <a:srgbClr val="2D3748"/>
                          </a:solidFill>
                        </a:defRPr>
                      </a:pPr>
                      <a:r>
                        <a:t>0.0912</a:t>
                      </a:r>
                    </a:p>
                  </a:txBody>
                  <a:tcPr>
                    <a:solidFill>
                      <a:srgbClr val="F8FAFC"/>
                    </a:solidFill>
                  </a:tcPr>
                </a:tc>
                <a:tc>
                  <a:txBody>
                    <a:bodyPr/>
                    <a:lstStyle/>
                    <a:p>
                      <a:pPr algn="ctr">
                        <a:defRPr sz="950">
                          <a:solidFill>
                            <a:srgbClr val="2D3748"/>
                          </a:solidFill>
                        </a:defRPr>
                      </a:pPr>
                      <a:r>
                        <a:t>0.8942</a:t>
                      </a:r>
                    </a:p>
                  </a:txBody>
                  <a:tcPr>
                    <a:solidFill>
                      <a:srgbClr val="F8FAFC"/>
                    </a:solidFill>
                  </a:tcPr>
                </a:tc>
                <a:tc>
                  <a:txBody>
                    <a:bodyPr/>
                    <a:lstStyle/>
                    <a:p>
                      <a:pPr algn="ctr">
                        <a:defRPr sz="950">
                          <a:solidFill>
                            <a:srgbClr val="2D3748"/>
                          </a:solidFill>
                        </a:defRPr>
                      </a:pPr>
                      <a:r>
                        <a:t>0.1299 ± 0.022</a:t>
                      </a:r>
                    </a:p>
                  </a:txBody>
                  <a:tcPr>
                    <a:solidFill>
                      <a:srgbClr val="F8FAFC"/>
                    </a:solidFill>
                  </a:tcPr>
                </a:tc>
                <a:tc>
                  <a:txBody>
                    <a:bodyPr/>
                    <a:lstStyle/>
                    <a:p>
                      <a:pPr algn="ctr">
                        <a:defRPr sz="950">
                          <a:solidFill>
                            <a:srgbClr val="2D3748"/>
                          </a:solidFill>
                        </a:defRPr>
                      </a:pPr>
                      <a:r>
                        <a:t>–</a:t>
                      </a:r>
                    </a:p>
                  </a:txBody>
                  <a:tcPr>
                    <a:solidFill>
                      <a:srgbClr val="F8FAFC"/>
                    </a:solidFill>
                  </a:tcPr>
                </a:tc>
              </a:tr>
              <a:tr h="448887">
                <a:tc>
                  <a:txBody>
                    <a:bodyPr/>
                    <a:lstStyle/>
                    <a:p>
                      <a:pPr>
                        <a:defRPr sz="950" b="1">
                          <a:solidFill>
                            <a:srgbClr val="B45309"/>
                          </a:solidFill>
                        </a:defRPr>
                      </a:pPr>
                      <a:r>
                        <a:t>Sklearn (Ensemble - B)</a:t>
                      </a:r>
                    </a:p>
                  </a:txBody>
                  <a:tcPr>
                    <a:solidFill>
                      <a:srgbClr val="FEF3C7"/>
                    </a:solidFill>
                  </a:tcPr>
                </a:tc>
                <a:tc>
                  <a:txBody>
                    <a:bodyPr/>
                    <a:lstStyle/>
                    <a:p>
                      <a:pPr>
                        <a:defRPr sz="950" b="1">
                          <a:solidFill>
                            <a:srgbClr val="B45309"/>
                          </a:solidFill>
                        </a:defRPr>
                      </a:pPr>
                      <a:r>
                        <a:t>Ensemble 4 mô hình (ENet/Ridge/GBR/HGB)</a:t>
                      </a:r>
                    </a:p>
                  </a:txBody>
                  <a:tcPr>
                    <a:solidFill>
                      <a:srgbClr val="FEF3C7"/>
                    </a:solidFill>
                  </a:tcPr>
                </a:tc>
                <a:tc>
                  <a:txBody>
                    <a:bodyPr/>
                    <a:lstStyle/>
                    <a:p>
                      <a:pPr algn="ctr">
                        <a:defRPr sz="950" b="1">
                          <a:solidFill>
                            <a:srgbClr val="B45309"/>
                          </a:solidFill>
                        </a:defRPr>
                      </a:pPr>
                      <a:r>
                        <a:t>0.1244</a:t>
                      </a:r>
                    </a:p>
                  </a:txBody>
                  <a:tcPr>
                    <a:solidFill>
                      <a:srgbClr val="FEF3C7"/>
                    </a:solidFill>
                  </a:tcPr>
                </a:tc>
                <a:tc>
                  <a:txBody>
                    <a:bodyPr/>
                    <a:lstStyle/>
                    <a:p>
                      <a:pPr algn="ctr">
                        <a:defRPr sz="950" b="1">
                          <a:solidFill>
                            <a:srgbClr val="B45309"/>
                          </a:solidFill>
                        </a:defRPr>
                      </a:pPr>
                      <a:r>
                        <a:t>0.0865</a:t>
                      </a:r>
                    </a:p>
                  </a:txBody>
                  <a:tcPr>
                    <a:solidFill>
                      <a:srgbClr val="FEF3C7"/>
                    </a:solidFill>
                  </a:tcPr>
                </a:tc>
                <a:tc>
                  <a:txBody>
                    <a:bodyPr/>
                    <a:lstStyle/>
                    <a:p>
                      <a:pPr algn="ctr">
                        <a:defRPr sz="950" b="1">
                          <a:solidFill>
                            <a:srgbClr val="B45309"/>
                          </a:solidFill>
                        </a:defRPr>
                      </a:pPr>
                      <a:r>
                        <a:t>0.9171</a:t>
                      </a:r>
                    </a:p>
                  </a:txBody>
                  <a:tcPr>
                    <a:solidFill>
                      <a:srgbClr val="FEF3C7"/>
                    </a:solidFill>
                  </a:tcPr>
                </a:tc>
                <a:tc>
                  <a:txBody>
                    <a:bodyPr/>
                    <a:lstStyle/>
                    <a:p>
                      <a:pPr algn="ctr">
                        <a:defRPr sz="950" b="1">
                          <a:solidFill>
                            <a:srgbClr val="B45309"/>
                          </a:solidFill>
                        </a:defRPr>
                      </a:pPr>
                      <a:r>
                        <a:t>0.1259 ± 0.035</a:t>
                      </a:r>
                    </a:p>
                  </a:txBody>
                  <a:tcPr>
                    <a:solidFill>
                      <a:srgbClr val="FEF3C7"/>
                    </a:solidFill>
                  </a:tcPr>
                </a:tc>
                <a:tc>
                  <a:txBody>
                    <a:bodyPr/>
                    <a:lstStyle/>
                    <a:p>
                      <a:pPr algn="ctr">
                        <a:defRPr sz="950" b="1">
                          <a:solidFill>
                            <a:srgbClr val="B45309"/>
                          </a:solidFill>
                        </a:defRPr>
                      </a:pPr>
                      <a:r>
                        <a:t>0.12573 (Nộp B)</a:t>
                      </a:r>
                    </a:p>
                  </a:txBody>
                  <a:tcPr>
                    <a:solidFill>
                      <a:srgbClr val="FEF3C7"/>
                    </a:solidFill>
                  </a:tcPr>
                </a:tc>
              </a:tr>
              <a:tr h="448890">
                <a:tc>
                  <a:txBody>
                    <a:bodyPr/>
                    <a:lstStyle/>
                    <a:p>
                      <a:pPr>
                        <a:defRPr sz="950" b="1">
                          <a:solidFill>
                            <a:srgbClr val="DD6B20"/>
                          </a:solidFill>
                        </a:defRPr>
                      </a:pPr>
                      <a:r>
                        <a:t>PyTorch MLP (C - Nhóm)</a:t>
                      </a:r>
                    </a:p>
                  </a:txBody>
                  <a:tcPr>
                    <a:solidFill>
                      <a:srgbClr val="FEEBE2"/>
                    </a:solidFill>
                  </a:tcPr>
                </a:tc>
                <a:tc>
                  <a:txBody>
                    <a:bodyPr/>
                    <a:lstStyle/>
                    <a:p>
                      <a:pPr>
                        <a:defRPr sz="950" b="1">
                          <a:solidFill>
                            <a:srgbClr val="DD6B20"/>
                          </a:solidFill>
                        </a:defRPr>
                      </a:pPr>
                      <a:r>
                        <a:t>PyTorch MLP (128-64-1 + Dropout 0.2)</a:t>
                      </a:r>
                    </a:p>
                  </a:txBody>
                  <a:tcPr>
                    <a:solidFill>
                      <a:srgbClr val="FEEBE2"/>
                    </a:solidFill>
                  </a:tcPr>
                </a:tc>
                <a:tc>
                  <a:txBody>
                    <a:bodyPr/>
                    <a:lstStyle/>
                    <a:p>
                      <a:pPr algn="ctr">
                        <a:defRPr sz="950" b="1">
                          <a:solidFill>
                            <a:srgbClr val="DD6B20"/>
                          </a:solidFill>
                        </a:defRPr>
                      </a:pPr>
                      <a:r>
                        <a:t>0.1252</a:t>
                      </a:r>
                    </a:p>
                  </a:txBody>
                  <a:tcPr>
                    <a:solidFill>
                      <a:srgbClr val="FEEBE2"/>
                    </a:solidFill>
                  </a:tcPr>
                </a:tc>
                <a:tc>
                  <a:txBody>
                    <a:bodyPr/>
                    <a:lstStyle/>
                    <a:p>
                      <a:pPr algn="ctr">
                        <a:defRPr sz="950" b="1">
                          <a:solidFill>
                            <a:srgbClr val="DD6B20"/>
                          </a:solidFill>
                        </a:defRPr>
                      </a:pPr>
                      <a:r>
                        <a:t>0.0902</a:t>
                      </a:r>
                    </a:p>
                  </a:txBody>
                  <a:tcPr>
                    <a:solidFill>
                      <a:srgbClr val="FEEBE2"/>
                    </a:solidFill>
                  </a:tcPr>
                </a:tc>
                <a:tc>
                  <a:txBody>
                    <a:bodyPr/>
                    <a:lstStyle/>
                    <a:p>
                      <a:pPr algn="ctr">
                        <a:defRPr sz="950" b="1">
                          <a:solidFill>
                            <a:srgbClr val="DD6B20"/>
                          </a:solidFill>
                        </a:defRPr>
                      </a:pPr>
                      <a:r>
                        <a:t>0.9123</a:t>
                      </a:r>
                    </a:p>
                  </a:txBody>
                  <a:tcPr>
                    <a:solidFill>
                      <a:srgbClr val="FEEBE2"/>
                    </a:solidFill>
                  </a:tcPr>
                </a:tc>
                <a:tc>
                  <a:txBody>
                    <a:bodyPr/>
                    <a:lstStyle/>
                    <a:p>
                      <a:pPr algn="ctr">
                        <a:defRPr sz="950" b="1">
                          <a:solidFill>
                            <a:srgbClr val="DD6B20"/>
                          </a:solidFill>
                        </a:defRPr>
                      </a:pPr>
                      <a:r>
                        <a:t>0.1312 ± 0.038</a:t>
                      </a:r>
                    </a:p>
                  </a:txBody>
                  <a:tcPr>
                    <a:solidFill>
                      <a:srgbClr val="FEEBE2"/>
                    </a:solidFill>
                  </a:tcPr>
                </a:tc>
                <a:tc>
                  <a:txBody>
                    <a:bodyPr/>
                    <a:lstStyle/>
                    <a:p>
                      <a:pPr algn="ctr">
                        <a:defRPr sz="950" b="1">
                          <a:solidFill>
                            <a:srgbClr val="DD6B20"/>
                          </a:solidFill>
                        </a:defRPr>
                      </a:pPr>
                      <a:r>
                        <a:t>0.12845 (Nộp C)</a:t>
                      </a:r>
                    </a:p>
                  </a:txBody>
                  <a:tcPr>
                    <a:solidFill>
                      <a:srgbClr val="FEEBE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